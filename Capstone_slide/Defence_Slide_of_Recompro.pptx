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G1TmppEgXx54riZL54pSt0bvy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AAE2FD-075D-4CDE-8AA6-C970B7EDC8F5}">
  <a:tblStyle styleId="{56AAE2FD-075D-4CDE-8AA6-C970B7EDC8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99d9698cb_0_7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99d9698cb_0_7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3f99d9698cb_0_7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99d6a077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f99d6a077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f99d6a077a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99d6a077a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f99d6a077a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f99d6a077a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99d9698cb_0_76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9d9698cb_0_7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99d9698cb_0_7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" name="Google Shape;18;g3f99d9698cb_0_76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8361" y="9688982"/>
            <a:ext cx="2143685" cy="51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99d9698cb_0_72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21" name="Google Shape;21;g3f99d9698cb_0_72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2" name="Google Shape;22;g3f99d9698cb_0_7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99d9698cb_0_730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5" name="Google Shape;25;g3f99d9698cb_0_73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99d9698cb_0_73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g3f99d9698cb_0_73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9" name="Google Shape;29;g3f99d9698cb_0_73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99d9698cb_0_73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2" name="Google Shape;32;g3f99d9698cb_0_73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3" name="Google Shape;33;g3f99d9698cb_0_73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4" name="Google Shape;34;g3f99d9698cb_0_73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99d9698cb_0_74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7" name="Google Shape;37;g3f99d9698cb_0_74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99d9698cb_0_74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g3f99d9698cb_0_74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" name="Google Shape;41;g3f99d9698cb_0_74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99d9698cb_0_74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4" name="Google Shape;44;g3f99d9698cb_0_74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99d9698cb_0_752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f99d9698cb_0_752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8" name="Google Shape;48;g3f99d9698cb_0_752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g3f99d9698cb_0_752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0" name="Google Shape;50;g3f99d9698cb_0_75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9d9698cb_0_75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53" name="Google Shape;53;g3f99d9698cb_0_75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99d9698cb_0_76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6" name="Google Shape;56;g3f99d9698cb_0_76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7" name="Google Shape;57;g3f99d9698cb_0_76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9d9698cb_0_72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99d9698cb_0_72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f99d9698cb_0_7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3.jpg"/><Relationship Id="rId5" Type="http://schemas.openxmlformats.org/officeDocument/2006/relationships/image" Target="../media/image18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Relationship Id="rId4" Type="http://schemas.openxmlformats.org/officeDocument/2006/relationships/image" Target="../media/image3.jp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9.png"/><Relationship Id="rId9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35.png"/><Relationship Id="rId8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AVfq_BEoQdW3LvVjcrMLu7Fxf8y3B58R/view" TargetMode="External"/><Relationship Id="rId4" Type="http://schemas.openxmlformats.org/officeDocument/2006/relationships/image" Target="../media/image40.jpg"/><Relationship Id="rId9" Type="http://schemas.openxmlformats.org/officeDocument/2006/relationships/hyperlink" Target="https://github.com/Afarrobo/RecomPro" TargetMode="External"/><Relationship Id="rId5" Type="http://schemas.openxmlformats.org/officeDocument/2006/relationships/image" Target="../media/image30.png"/><Relationship Id="rId6" Type="http://schemas.openxmlformats.org/officeDocument/2006/relationships/image" Target="../media/image38.png"/><Relationship Id="rId7" Type="http://schemas.openxmlformats.org/officeDocument/2006/relationships/image" Target="../media/image43.png"/><Relationship Id="rId8" Type="http://schemas.openxmlformats.org/officeDocument/2006/relationships/hyperlink" Target="https://www.kaggle.com/code/fardeenhaque/product-review-modifie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jpg"/><Relationship Id="rId4" Type="http://schemas.openxmlformats.org/officeDocument/2006/relationships/hyperlink" Target="https://arxiv.org/abs/2402.05133" TargetMode="External"/><Relationship Id="rId5" Type="http://schemas.openxmlformats.org/officeDocument/2006/relationships/hyperlink" Target="https://itegam-jetia.org/journal/index.php/jetia/en/article/view/2874" TargetMode="External"/><Relationship Id="rId6" Type="http://schemas.openxmlformats.org/officeDocument/2006/relationships/hyperlink" Target="https://dl.acm.org/doi/abs/10.1145/3604915.3610647" TargetMode="External"/><Relationship Id="rId7" Type="http://schemas.openxmlformats.org/officeDocument/2006/relationships/hyperlink" Target="https://dl.acm.org/doi/abs/10.1145/3626772.3661357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jp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2C2B3"/>
          </a:solidFill>
          <a:ln>
            <a:noFill/>
          </a:ln>
        </p:spPr>
      </p:sp>
      <p:sp>
        <p:nvSpPr>
          <p:cNvPr id="63" name="Google Shape;63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403234"/>
          </a:solidFill>
          <a:ln>
            <a:noFill/>
          </a:ln>
        </p:spPr>
      </p:sp>
      <p:sp>
        <p:nvSpPr>
          <p:cNvPr descr="preencoded.png" id="64" name="Google Shape;64;p1">
            <a:hlinkClick r:id="rId3"/>
          </p:cNvPr>
          <p:cNvSpPr/>
          <p:nvPr/>
        </p:nvSpPr>
        <p:spPr>
          <a:xfrm>
            <a:off x="16058359" y="9688982"/>
            <a:ext cx="2143697" cy="512064"/>
          </a:xfrm>
          <a:custGeom>
            <a:rect b="b" l="l" r="r" t="t"/>
            <a:pathLst>
              <a:path extrusionOk="0" h="682752" w="2858262">
                <a:moveTo>
                  <a:pt x="0" y="0"/>
                </a:moveTo>
                <a:lnTo>
                  <a:pt x="2858262" y="0"/>
                </a:lnTo>
                <a:lnTo>
                  <a:pt x="285826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1"/>
          <p:cNvSpPr/>
          <p:nvPr/>
        </p:nvSpPr>
        <p:spPr>
          <a:xfrm>
            <a:off x="992238" y="3834708"/>
            <a:ext cx="16303561" cy="28575"/>
          </a:xfrm>
          <a:custGeom>
            <a:rect b="b" l="l" r="r" t="t"/>
            <a:pathLst>
              <a:path extrusionOk="0" h="38100" w="21738082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21719032" y="0"/>
                </a:lnTo>
                <a:cubicBezTo>
                  <a:pt x="21729573" y="0"/>
                  <a:pt x="21738082" y="8509"/>
                  <a:pt x="21738082" y="19050"/>
                </a:cubicBezTo>
                <a:cubicBezTo>
                  <a:pt x="21738082" y="29591"/>
                  <a:pt x="21729573" y="38100"/>
                  <a:pt x="21719032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D3C9C5">
              <a:alpha val="2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813645" y="4204249"/>
            <a:ext cx="8206454" cy="3364326"/>
          </a:xfrm>
          <a:custGeom>
            <a:rect b="b" l="l" r="r" t="t"/>
            <a:pathLst>
              <a:path extrusionOk="0" h="4485767" w="10941938">
                <a:moveTo>
                  <a:pt x="0" y="49657"/>
                </a:moveTo>
                <a:cubicBezTo>
                  <a:pt x="0" y="22225"/>
                  <a:pt x="22225" y="0"/>
                  <a:pt x="49657" y="0"/>
                </a:cubicBezTo>
                <a:lnTo>
                  <a:pt x="10892282" y="0"/>
                </a:lnTo>
                <a:cubicBezTo>
                  <a:pt x="10919713" y="0"/>
                  <a:pt x="10941938" y="22225"/>
                  <a:pt x="10941938" y="49657"/>
                </a:cubicBezTo>
                <a:lnTo>
                  <a:pt x="10941938" y="4436110"/>
                </a:lnTo>
                <a:cubicBezTo>
                  <a:pt x="10941938" y="4463542"/>
                  <a:pt x="10919713" y="4485767"/>
                  <a:pt x="10892282" y="4485767"/>
                </a:cubicBezTo>
                <a:lnTo>
                  <a:pt x="49657" y="4485767"/>
                </a:lnTo>
                <a:cubicBezTo>
                  <a:pt x="22225" y="4485640"/>
                  <a:pt x="0" y="4463415"/>
                  <a:pt x="0" y="4436110"/>
                </a:cubicBez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16031185" y="9495815"/>
            <a:ext cx="2165985" cy="714947"/>
          </a:xfrm>
          <a:custGeom>
            <a:rect b="b" l="l" r="r" t="t"/>
            <a:pathLst>
              <a:path extrusionOk="0" h="953262" w="2887980">
                <a:moveTo>
                  <a:pt x="0" y="0"/>
                </a:moveTo>
                <a:lnTo>
                  <a:pt x="2887980" y="0"/>
                </a:lnTo>
                <a:lnTo>
                  <a:pt x="2887980" y="953262"/>
                </a:lnTo>
                <a:lnTo>
                  <a:pt x="0" y="953262"/>
                </a:lnTo>
                <a:close/>
              </a:path>
            </a:pathLst>
          </a:custGeom>
          <a:solidFill>
            <a:srgbClr val="403234"/>
          </a:solidFill>
          <a:ln>
            <a:noFill/>
          </a:ln>
        </p:spPr>
      </p:sp>
      <p:sp>
        <p:nvSpPr>
          <p:cNvPr id="68" name="Google Shape;68;p1"/>
          <p:cNvSpPr/>
          <p:nvPr/>
        </p:nvSpPr>
        <p:spPr>
          <a:xfrm>
            <a:off x="0" y="2865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8000"/>
            </a:blip>
            <a:stretch>
              <a:fillRect b="-14560" l="0" r="0" t="-4550"/>
            </a:stretch>
          </a:blipFill>
          <a:ln>
            <a:noFill/>
          </a:ln>
        </p:spPr>
      </p:sp>
      <p:sp>
        <p:nvSpPr>
          <p:cNvPr id="69" name="Google Shape;69;p1"/>
          <p:cNvSpPr txBox="1"/>
          <p:nvPr/>
        </p:nvSpPr>
        <p:spPr>
          <a:xfrm>
            <a:off x="992238" y="1041054"/>
            <a:ext cx="16303523" cy="155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A Context-Aware Multilingual Aspect-Based Framework for Product 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535038" y="3020616"/>
            <a:ext cx="17217923" cy="351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Capstone Project Final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061590" y="4452195"/>
            <a:ext cx="77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6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Research Team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061590" y="5011636"/>
            <a:ext cx="77106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Afsin Sultana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                            — 2022-1-60-113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Raiyan Fardin Haque             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— 2022-1-60-240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Md Sabbir Hossain                  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— 2022-1-60-270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Md Arafat Hossain                  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— 2022-1-60-330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9481371" y="4452195"/>
            <a:ext cx="784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7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Institutional Details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9456096" y="5188562"/>
            <a:ext cx="78492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Department: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Computer Science &amp;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Institution: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East West University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Nishat Tasnim, Lecturer, CSE Department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b="0" i="0" lang="en-US" sz="2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August 13, 2026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14608541" y="7136058"/>
            <a:ext cx="2845288" cy="2717250"/>
          </a:xfrm>
          <a:custGeom>
            <a:rect b="b" l="l" r="r" t="t"/>
            <a:pathLst>
              <a:path extrusionOk="0" h="2717250" w="2845288">
                <a:moveTo>
                  <a:pt x="0" y="0"/>
                </a:moveTo>
                <a:lnTo>
                  <a:pt x="2845287" y="0"/>
                </a:lnTo>
                <a:lnTo>
                  <a:pt x="2845287" y="2717250"/>
                </a:lnTo>
                <a:lnTo>
                  <a:pt x="0" y="27172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1"/>
          <p:cNvSpPr/>
          <p:nvPr/>
        </p:nvSpPr>
        <p:spPr>
          <a:xfrm>
            <a:off x="992238" y="7985460"/>
            <a:ext cx="2031355" cy="1749587"/>
          </a:xfrm>
          <a:custGeom>
            <a:rect b="b" l="l" r="r" t="t"/>
            <a:pathLst>
              <a:path extrusionOk="0" h="3057388" w="2965666">
                <a:moveTo>
                  <a:pt x="0" y="0"/>
                </a:moveTo>
                <a:lnTo>
                  <a:pt x="2965667" y="0"/>
                </a:lnTo>
                <a:lnTo>
                  <a:pt x="2965667" y="3057388"/>
                </a:lnTo>
                <a:lnTo>
                  <a:pt x="0" y="305738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4447" l="0" r="0" t="-27551"/>
            </a:stretch>
          </a:blipFill>
          <a:ln>
            <a:noFill/>
          </a:ln>
        </p:spPr>
      </p:sp>
      <p:sp>
        <p:nvSpPr>
          <p:cNvPr id="82" name="Google Shape;82;p2"/>
          <p:cNvSpPr/>
          <p:nvPr/>
        </p:nvSpPr>
        <p:spPr>
          <a:xfrm>
            <a:off x="527124" y="7227765"/>
            <a:ext cx="2845288" cy="2717250"/>
          </a:xfrm>
          <a:custGeom>
            <a:rect b="b" l="l" r="r" t="t"/>
            <a:pathLst>
              <a:path extrusionOk="0" h="2717250" w="2845288">
                <a:moveTo>
                  <a:pt x="0" y="0"/>
                </a:moveTo>
                <a:lnTo>
                  <a:pt x="2845288" y="0"/>
                </a:lnTo>
                <a:lnTo>
                  <a:pt x="2845288" y="2717249"/>
                </a:lnTo>
                <a:lnTo>
                  <a:pt x="0" y="27172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"/>
          <p:cNvSpPr/>
          <p:nvPr/>
        </p:nvSpPr>
        <p:spPr>
          <a:xfrm>
            <a:off x="14677603" y="495024"/>
            <a:ext cx="2965666" cy="3057388"/>
          </a:xfrm>
          <a:custGeom>
            <a:rect b="b" l="l" r="r" t="t"/>
            <a:pathLst>
              <a:path extrusionOk="0" h="3057388" w="2965666">
                <a:moveTo>
                  <a:pt x="0" y="0"/>
                </a:moveTo>
                <a:lnTo>
                  <a:pt x="2965667" y="0"/>
                </a:lnTo>
                <a:lnTo>
                  <a:pt x="2965667" y="3057388"/>
                </a:lnTo>
                <a:lnTo>
                  <a:pt x="0" y="305738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"/>
          <p:cNvSpPr txBox="1"/>
          <p:nvPr/>
        </p:nvSpPr>
        <p:spPr>
          <a:xfrm>
            <a:off x="3372412" y="2119427"/>
            <a:ext cx="4700416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3544491" y="3854777"/>
            <a:ext cx="11457451" cy="3167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work proposes a context-aware, multilingual, aspect-based product recommendation framework for Bangladeshi e-commerce. Built on Daraz Bangladesh reviews in Bangla, English, and code-switched language, the system converts raw customer text into structured sentiment and aspect information — combining review analysis, aspect extraction, and hybrid retrieval to recommend products aligned with user queries.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642141" y="114300"/>
            <a:ext cx="1663245" cy="1728024"/>
          </a:xfrm>
          <a:custGeom>
            <a:rect b="b" l="l" r="r" t="t"/>
            <a:pathLst>
              <a:path extrusionOk="0" h="2992249" w="3183244">
                <a:moveTo>
                  <a:pt x="0" y="0"/>
                </a:moveTo>
                <a:lnTo>
                  <a:pt x="3183243" y="0"/>
                </a:lnTo>
                <a:lnTo>
                  <a:pt x="3183243" y="2992249"/>
                </a:lnTo>
                <a:lnTo>
                  <a:pt x="0" y="299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2"/>
          <p:cNvSpPr/>
          <p:nvPr/>
        </p:nvSpPr>
        <p:spPr>
          <a:xfrm>
            <a:off x="82395" y="1593727"/>
            <a:ext cx="1501099" cy="2154688"/>
          </a:xfrm>
          <a:custGeom>
            <a:rect b="b" l="l" r="r" t="t"/>
            <a:pathLst>
              <a:path extrusionOk="0" h="3731062" w="2872917">
                <a:moveTo>
                  <a:pt x="0" y="0"/>
                </a:moveTo>
                <a:lnTo>
                  <a:pt x="2872917" y="0"/>
                </a:lnTo>
                <a:lnTo>
                  <a:pt x="2872917" y="3731061"/>
                </a:lnTo>
                <a:lnTo>
                  <a:pt x="0" y="3731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2"/>
          <p:cNvSpPr/>
          <p:nvPr/>
        </p:nvSpPr>
        <p:spPr>
          <a:xfrm>
            <a:off x="1566315" y="2511738"/>
            <a:ext cx="1489751" cy="1436792"/>
          </a:xfrm>
          <a:custGeom>
            <a:rect b="b" l="l" r="r" t="t"/>
            <a:pathLst>
              <a:path extrusionOk="0" h="2492265" w="2848303">
                <a:moveTo>
                  <a:pt x="0" y="0"/>
                </a:moveTo>
                <a:lnTo>
                  <a:pt x="2848303" y="0"/>
                </a:lnTo>
                <a:lnTo>
                  <a:pt x="2848303" y="2492265"/>
                </a:lnTo>
                <a:lnTo>
                  <a:pt x="0" y="24922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2C2B3"/>
          </a:solidFill>
          <a:ln>
            <a:noFill/>
          </a:ln>
        </p:spPr>
      </p:sp>
      <p:sp>
        <p:nvSpPr>
          <p:cNvPr id="95" name="Google Shape;95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9111" l="0" r="0" t="-9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772400" y="1760645"/>
            <a:ext cx="2031796" cy="1814887"/>
          </a:xfrm>
          <a:custGeom>
            <a:rect b="b" l="l" r="r" t="t"/>
            <a:pathLst>
              <a:path extrusionOk="0" h="2547163" w="2407069">
                <a:moveTo>
                  <a:pt x="0" y="0"/>
                </a:moveTo>
                <a:lnTo>
                  <a:pt x="2407070" y="0"/>
                </a:lnTo>
                <a:lnTo>
                  <a:pt x="2407070" y="2547163"/>
                </a:lnTo>
                <a:lnTo>
                  <a:pt x="0" y="25471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3"/>
          <p:cNvSpPr txBox="1"/>
          <p:nvPr/>
        </p:nvSpPr>
        <p:spPr>
          <a:xfrm>
            <a:off x="1618403" y="2152611"/>
            <a:ext cx="6374333" cy="732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1383059" y="4265714"/>
            <a:ext cx="4601766" cy="775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32529"/>
                </a:solidFill>
                <a:latin typeface="Arial"/>
                <a:ea typeface="Arial"/>
                <a:cs typeface="Arial"/>
                <a:sym typeface="Arial"/>
              </a:rPr>
              <a:t>① Unstructured Review Overload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83059" y="5113734"/>
            <a:ext cx="4601766" cy="3251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E-commerce platforms accumulate massive customer review text spanning </a:t>
            </a:r>
            <a:r>
              <a:rPr b="1" i="0" lang="en-US" sz="1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Bangla, English, and Banglish</a:t>
            </a:r>
            <a:r>
              <a:rPr b="0" i="0" lang="en-US" sz="1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(code-switched). This content remains unstructured and resistant to systematic parsing — making it nearly impossible to extract actionable product intelligence at scale.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900120" y="4265714"/>
            <a:ext cx="4601918" cy="775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② Shallow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900120" y="5113734"/>
            <a:ext cx="4601918" cy="3251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systems collapse nuanced product quality into a single star rating or surface-level keywords. </a:t>
            </a: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Fine-grained attributes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battery backup, bass response, heating, delivery service — are entirely ignored, producing generic and often irrelevant suggestions.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2417323" y="4265714"/>
            <a:ext cx="4601766" cy="775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③ Multilingual Retrieval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2417323" y="5113734"/>
            <a:ext cx="4601766" cy="2854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Transliterated, noisy queries such as </a:t>
            </a:r>
            <a:r>
              <a:rPr b="0" i="1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"kom dame valo powerbank"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impose high retrieval friction. Standard keyword engines and monolingual embeddings fail to bridge language variants, penalizing Bangladeshi shoppers who naturally code-switch.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4745231" y="231951"/>
            <a:ext cx="2031796" cy="1814887"/>
          </a:xfrm>
          <a:custGeom>
            <a:rect b="b" l="l" r="r" t="t"/>
            <a:pathLst>
              <a:path extrusionOk="0" h="3057388" w="2965666">
                <a:moveTo>
                  <a:pt x="0" y="0"/>
                </a:moveTo>
                <a:lnTo>
                  <a:pt x="2965667" y="0"/>
                </a:lnTo>
                <a:lnTo>
                  <a:pt x="2965667" y="3057388"/>
                </a:lnTo>
                <a:lnTo>
                  <a:pt x="0" y="305738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816473" y="1839963"/>
            <a:ext cx="7867555" cy="7730586"/>
          </a:xfrm>
          <a:custGeom>
            <a:rect b="b" l="l" r="r" t="t"/>
            <a:pathLst>
              <a:path extrusionOk="0" h="10307447" w="10490073">
                <a:moveTo>
                  <a:pt x="0" y="48895"/>
                </a:moveTo>
                <a:cubicBezTo>
                  <a:pt x="0" y="21844"/>
                  <a:pt x="21844" y="0"/>
                  <a:pt x="48895" y="0"/>
                </a:cubicBezTo>
                <a:lnTo>
                  <a:pt x="10441178" y="0"/>
                </a:lnTo>
                <a:cubicBezTo>
                  <a:pt x="10468102" y="0"/>
                  <a:pt x="10490073" y="21844"/>
                  <a:pt x="10490073" y="48895"/>
                </a:cubicBezTo>
                <a:lnTo>
                  <a:pt x="10490073" y="10258552"/>
                </a:lnTo>
                <a:cubicBezTo>
                  <a:pt x="10490073" y="10285476"/>
                  <a:pt x="10468229" y="10307447"/>
                  <a:pt x="10441178" y="10307447"/>
                </a:cubicBezTo>
                <a:lnTo>
                  <a:pt x="48895" y="10307447"/>
                </a:lnTo>
                <a:cubicBezTo>
                  <a:pt x="21971" y="10307447"/>
                  <a:pt x="0" y="10285603"/>
                  <a:pt x="0" y="10258552"/>
                </a:cubicBez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60552" y="2732189"/>
            <a:ext cx="549592" cy="549592"/>
          </a:xfrm>
          <a:custGeom>
            <a:rect b="b" l="l" r="r" t="t"/>
            <a:pathLst>
              <a:path extrusionOk="0" h="732790" w="732790">
                <a:moveTo>
                  <a:pt x="0" y="48895"/>
                </a:moveTo>
                <a:cubicBezTo>
                  <a:pt x="0" y="21844"/>
                  <a:pt x="21844" y="0"/>
                  <a:pt x="48895" y="0"/>
                </a:cubicBezTo>
                <a:lnTo>
                  <a:pt x="683895" y="0"/>
                </a:lnTo>
                <a:cubicBezTo>
                  <a:pt x="710819" y="0"/>
                  <a:pt x="732790" y="21844"/>
                  <a:pt x="732790" y="48895"/>
                </a:cubicBezTo>
                <a:lnTo>
                  <a:pt x="732790" y="683895"/>
                </a:lnTo>
                <a:cubicBezTo>
                  <a:pt x="732790" y="710819"/>
                  <a:pt x="710946" y="732790"/>
                  <a:pt x="683895" y="732790"/>
                </a:cubicBezTo>
                <a:lnTo>
                  <a:pt x="48895" y="732790"/>
                </a:lnTo>
                <a:cubicBezTo>
                  <a:pt x="21844" y="732663"/>
                  <a:pt x="0" y="710819"/>
                  <a:pt x="0" y="683768"/>
                </a:cubicBezTo>
                <a:close/>
              </a:path>
            </a:pathLst>
          </a:cu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1152154" y="2778023"/>
            <a:ext cx="366267" cy="457800"/>
            <a:chOff x="0" y="0"/>
            <a:chExt cx="488355" cy="610400"/>
          </a:xfrm>
        </p:grpSpPr>
        <p:sp>
          <p:nvSpPr>
            <p:cNvPr id="112" name="Google Shape;112;p4"/>
            <p:cNvSpPr/>
            <p:nvPr/>
          </p:nvSpPr>
          <p:spPr>
            <a:xfrm>
              <a:off x="0" y="0"/>
              <a:ext cx="488355" cy="610395"/>
            </a:xfrm>
            <a:custGeom>
              <a:rect b="b" l="l" r="r" t="t"/>
              <a:pathLst>
                <a:path extrusionOk="0" h="610395" w="488355">
                  <a:moveTo>
                    <a:pt x="0" y="0"/>
                  </a:moveTo>
                  <a:lnTo>
                    <a:pt x="488355" y="0"/>
                  </a:lnTo>
                  <a:lnTo>
                    <a:pt x="488355" y="610395"/>
                  </a:lnTo>
                  <a:lnTo>
                    <a:pt x="0" y="61039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69" r="-110369" t="0"/>
              </a:stretch>
            </a:blipFill>
            <a:ln>
              <a:noFill/>
            </a:ln>
          </p:spPr>
        </p:sp>
        <p:sp>
          <p:nvSpPr>
            <p:cNvPr id="113" name="Google Shape;113;p4"/>
            <p:cNvSpPr txBox="1"/>
            <p:nvPr/>
          </p:nvSpPr>
          <p:spPr>
            <a:xfrm>
              <a:off x="0" y="0"/>
              <a:ext cx="488353" cy="6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3C9C5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4"/>
          <p:cNvSpPr/>
          <p:nvPr/>
        </p:nvSpPr>
        <p:spPr>
          <a:xfrm>
            <a:off x="1060552" y="5081740"/>
            <a:ext cx="549592" cy="549592"/>
          </a:xfrm>
          <a:custGeom>
            <a:rect b="b" l="l" r="r" t="t"/>
            <a:pathLst>
              <a:path extrusionOk="0" h="732790" w="732790">
                <a:moveTo>
                  <a:pt x="0" y="48895"/>
                </a:moveTo>
                <a:cubicBezTo>
                  <a:pt x="0" y="21844"/>
                  <a:pt x="21844" y="0"/>
                  <a:pt x="48895" y="0"/>
                </a:cubicBezTo>
                <a:lnTo>
                  <a:pt x="683895" y="0"/>
                </a:lnTo>
                <a:cubicBezTo>
                  <a:pt x="710819" y="0"/>
                  <a:pt x="732790" y="21844"/>
                  <a:pt x="732790" y="48895"/>
                </a:cubicBezTo>
                <a:lnTo>
                  <a:pt x="732790" y="683895"/>
                </a:lnTo>
                <a:cubicBezTo>
                  <a:pt x="732790" y="710819"/>
                  <a:pt x="710946" y="732790"/>
                  <a:pt x="683895" y="732790"/>
                </a:cubicBezTo>
                <a:lnTo>
                  <a:pt x="48895" y="732790"/>
                </a:lnTo>
                <a:cubicBezTo>
                  <a:pt x="21844" y="732663"/>
                  <a:pt x="0" y="710819"/>
                  <a:pt x="0" y="683768"/>
                </a:cubicBezTo>
                <a:close/>
              </a:path>
            </a:pathLst>
          </a:cu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152154" y="5127574"/>
            <a:ext cx="366267" cy="457800"/>
            <a:chOff x="0" y="0"/>
            <a:chExt cx="488355" cy="610400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488355" cy="610395"/>
            </a:xfrm>
            <a:custGeom>
              <a:rect b="b" l="l" r="r" t="t"/>
              <a:pathLst>
                <a:path extrusionOk="0" h="610395" w="488355">
                  <a:moveTo>
                    <a:pt x="0" y="0"/>
                  </a:moveTo>
                  <a:lnTo>
                    <a:pt x="488355" y="0"/>
                  </a:lnTo>
                  <a:lnTo>
                    <a:pt x="488355" y="610395"/>
                  </a:lnTo>
                  <a:lnTo>
                    <a:pt x="0" y="61039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69" r="-110369" t="0"/>
              </a:stretch>
            </a:blip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488353" cy="6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3C9C5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4"/>
          <p:cNvSpPr/>
          <p:nvPr/>
        </p:nvSpPr>
        <p:spPr>
          <a:xfrm>
            <a:off x="1060552" y="7431291"/>
            <a:ext cx="549592" cy="549592"/>
          </a:xfrm>
          <a:custGeom>
            <a:rect b="b" l="l" r="r" t="t"/>
            <a:pathLst>
              <a:path extrusionOk="0" h="732790" w="732790">
                <a:moveTo>
                  <a:pt x="0" y="48895"/>
                </a:moveTo>
                <a:cubicBezTo>
                  <a:pt x="0" y="21844"/>
                  <a:pt x="21844" y="0"/>
                  <a:pt x="48895" y="0"/>
                </a:cubicBezTo>
                <a:lnTo>
                  <a:pt x="683895" y="0"/>
                </a:lnTo>
                <a:cubicBezTo>
                  <a:pt x="710819" y="0"/>
                  <a:pt x="732790" y="21844"/>
                  <a:pt x="732790" y="48895"/>
                </a:cubicBezTo>
                <a:lnTo>
                  <a:pt x="732790" y="683895"/>
                </a:lnTo>
                <a:cubicBezTo>
                  <a:pt x="732790" y="710819"/>
                  <a:pt x="710946" y="732790"/>
                  <a:pt x="683895" y="732790"/>
                </a:cubicBezTo>
                <a:lnTo>
                  <a:pt x="48895" y="732790"/>
                </a:lnTo>
                <a:cubicBezTo>
                  <a:pt x="21844" y="732663"/>
                  <a:pt x="0" y="710819"/>
                  <a:pt x="0" y="683768"/>
                </a:cubicBezTo>
                <a:close/>
              </a:path>
            </a:pathLst>
          </a:cu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4"/>
          <p:cNvGrpSpPr/>
          <p:nvPr/>
        </p:nvGrpSpPr>
        <p:grpSpPr>
          <a:xfrm>
            <a:off x="1152154" y="7477125"/>
            <a:ext cx="366267" cy="457800"/>
            <a:chOff x="0" y="0"/>
            <a:chExt cx="488355" cy="610400"/>
          </a:xfrm>
        </p:grpSpPr>
        <p:sp>
          <p:nvSpPr>
            <p:cNvPr id="120" name="Google Shape;120;p4"/>
            <p:cNvSpPr/>
            <p:nvPr/>
          </p:nvSpPr>
          <p:spPr>
            <a:xfrm>
              <a:off x="0" y="0"/>
              <a:ext cx="488355" cy="610395"/>
            </a:xfrm>
            <a:custGeom>
              <a:rect b="b" l="l" r="r" t="t"/>
              <a:pathLst>
                <a:path extrusionOk="0" h="610395" w="488355">
                  <a:moveTo>
                    <a:pt x="0" y="0"/>
                  </a:moveTo>
                  <a:lnTo>
                    <a:pt x="488355" y="0"/>
                  </a:lnTo>
                  <a:lnTo>
                    <a:pt x="488355" y="610395"/>
                  </a:lnTo>
                  <a:lnTo>
                    <a:pt x="0" y="61039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69" r="-110369" t="0"/>
              </a:stretch>
            </a:blipFill>
            <a:ln>
              <a:noFill/>
            </a:ln>
          </p:spPr>
        </p:sp>
        <p:sp>
          <p:nvSpPr>
            <p:cNvPr id="121" name="Google Shape;121;p4"/>
            <p:cNvSpPr txBox="1"/>
            <p:nvPr/>
          </p:nvSpPr>
          <p:spPr>
            <a:xfrm>
              <a:off x="0" y="0"/>
              <a:ext cx="488353" cy="6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3C9C5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7000"/>
            </a:blip>
            <a:stretch>
              <a:fillRect b="-14084" l="-1208" r="0" t="-5566"/>
            </a:stretch>
          </a:blipFill>
          <a:ln>
            <a:noFill/>
          </a:ln>
        </p:spPr>
      </p:sp>
      <p:sp>
        <p:nvSpPr>
          <p:cNvPr id="123" name="Google Shape;123;p4"/>
          <p:cNvSpPr txBox="1"/>
          <p:nvPr/>
        </p:nvSpPr>
        <p:spPr>
          <a:xfrm>
            <a:off x="992238" y="706936"/>
            <a:ext cx="16303523" cy="73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Questions &amp;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60552" y="2080317"/>
            <a:ext cx="7379341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CBAD"/>
                </a:solidFill>
                <a:latin typeface="Arial"/>
                <a:ea typeface="Arial"/>
                <a:cs typeface="Arial"/>
                <a:sym typeface="Arial"/>
              </a:rPr>
              <a:t>Guiding Research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850384" y="2816123"/>
            <a:ext cx="6589509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Sentiment Analysis Efficacy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850384" y="3361734"/>
            <a:ext cx="6589509" cy="1239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RQ1:</a:t>
            </a:r>
            <a:r>
              <a:rPr b="0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How effectively can product reviews be analyzed to derive meaningful, fine-grained sentiment information across multilingual inputs?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850384" y="5165674"/>
            <a:ext cx="6589509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Aspect Extraction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850384" y="5711276"/>
            <a:ext cx="6589509" cy="1239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RQ2:</a:t>
            </a:r>
            <a:r>
              <a:rPr b="0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How effectively can product-specific aspects be extracted from Bangla, English, and Banglish review data?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850384" y="7515225"/>
            <a:ext cx="6589509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Recommendation 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850384" y="8060827"/>
            <a:ext cx="6589509" cy="1239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RQ3:</a:t>
            </a:r>
            <a:r>
              <a:rPr b="0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How effectively can the framework recommend suitable products in response to natural language queries?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9113339" y="2039093"/>
            <a:ext cx="3002461" cy="36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906895" y="2732189"/>
            <a:ext cx="7398248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Fine-Grained Annotation &amp; Aspect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906895" y="3277791"/>
            <a:ext cx="7398248" cy="112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Annotate review-level sentiment and consolidate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83 raw attributes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16 canonical aspect groups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for structured product profiling.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906895" y="4997796"/>
            <a:ext cx="7398248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Aspect-Aware Hybrid Retrieval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906895" y="5543398"/>
            <a:ext cx="7398248" cy="112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Build a retrieval pipeline combining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dense transformer embeddings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character n-gram sparse signals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neural reranking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for robust multilingual matching.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9906895" y="7263413"/>
            <a:ext cx="7398248" cy="38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RecomPro Web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906895" y="7809014"/>
            <a:ext cx="7398248" cy="112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Deploy an interactive application surfacing aspect-level feedback —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"Loved for"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"Watch out for"</a:t>
            </a:r>
            <a:r>
              <a:rPr b="0" i="0" lang="en-US" sz="19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— alongside ranked recommendations.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 rot="2305847">
            <a:off x="14487855" y="369389"/>
            <a:ext cx="1428091" cy="1480173"/>
          </a:xfrm>
          <a:custGeom>
            <a:rect b="b" l="l" r="r" t="t"/>
            <a:pathLst>
              <a:path extrusionOk="0" h="2992249" w="3183244">
                <a:moveTo>
                  <a:pt x="0" y="0"/>
                </a:moveTo>
                <a:lnTo>
                  <a:pt x="3183243" y="0"/>
                </a:lnTo>
                <a:lnTo>
                  <a:pt x="3183243" y="2992249"/>
                </a:lnTo>
                <a:lnTo>
                  <a:pt x="0" y="299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16002000" y="262164"/>
            <a:ext cx="2038739" cy="1897621"/>
          </a:xfrm>
          <a:custGeom>
            <a:rect b="b" l="l" r="r" t="t"/>
            <a:pathLst>
              <a:path extrusionOk="0" h="2731273" w="2540084">
                <a:moveTo>
                  <a:pt x="0" y="0"/>
                </a:moveTo>
                <a:lnTo>
                  <a:pt x="2540084" y="0"/>
                </a:lnTo>
                <a:lnTo>
                  <a:pt x="2540084" y="2731273"/>
                </a:lnTo>
                <a:lnTo>
                  <a:pt x="0" y="273127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894455" y="2032102"/>
            <a:ext cx="16499110" cy="7491412"/>
          </a:xfrm>
          <a:custGeom>
            <a:rect b="b" l="l" r="r" t="t"/>
            <a:pathLst>
              <a:path extrusionOk="0" h="7491412" w="16499110">
                <a:moveTo>
                  <a:pt x="0" y="0"/>
                </a:moveTo>
                <a:lnTo>
                  <a:pt x="16499109" y="0"/>
                </a:lnTo>
                <a:lnTo>
                  <a:pt x="16499109" y="7491412"/>
                </a:lnTo>
                <a:lnTo>
                  <a:pt x="0" y="749141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5"/>
          <p:cNvSpPr/>
          <p:nvPr/>
        </p:nvSpPr>
        <p:spPr>
          <a:xfrm>
            <a:off x="0" y="2865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-8544" l="-247" r="0" t="-9971"/>
            </a:stretch>
          </a:blipFill>
          <a:ln>
            <a:noFill/>
          </a:ln>
        </p:spPr>
      </p:sp>
      <p:sp>
        <p:nvSpPr>
          <p:cNvPr id="146" name="Google Shape;146;p5"/>
          <p:cNvSpPr txBox="1"/>
          <p:nvPr/>
        </p:nvSpPr>
        <p:spPr>
          <a:xfrm>
            <a:off x="1165917" y="568223"/>
            <a:ext cx="7713002" cy="89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5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0" lang="en-US" sz="4999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Literature Review (1/2)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1165917" y="2014537"/>
            <a:ext cx="799062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488254" y="2014537"/>
            <a:ext cx="3923709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935238" y="2014537"/>
            <a:ext cx="4747174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2205697" y="2014537"/>
            <a:ext cx="4916691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Matches Our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165917" y="2704652"/>
            <a:ext cx="799062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2488250" y="2704650"/>
            <a:ext cx="42672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LLM recommendation using collaborative, content-based, and semantic scoring; supports cold-start and grounded recommendation.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935238" y="2704652"/>
            <a:ext cx="4747174" cy="137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latency, hallucination risk, privacy concerns, and context-length limitations.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2205697" y="2704652"/>
            <a:ext cx="4916691" cy="1366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Matches our hybrid recommendation approach and use of semantic retrieval beyond simple keyword matching.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165917" y="4962230"/>
            <a:ext cx="799062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2495175" y="4943025"/>
            <a:ext cx="42672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Two-stage framework combining LLM-based aspect extraction from reviews with aspect-aware recommendation graphs.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935238" y="4962230"/>
            <a:ext cx="4747174" cy="1366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 extraction depends on prompt quality and manual refinement; review processing is time-consuming.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2205697" y="4962230"/>
            <a:ext cx="4916691" cy="137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Strongly matches our aspect-based review analysis and recommendation goal.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165917" y="7219798"/>
            <a:ext cx="799062" cy="422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2488254" y="7229323"/>
            <a:ext cx="3923709" cy="2319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LLM-based automated query–product relevance labeling for e-commerce search using few-shot prompting, CoT, and RAG+MMR.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6935238" y="7219798"/>
            <a:ext cx="4747174" cy="137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depends on prompt design, metadata richness, and dataset balance.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2205697" y="7219798"/>
            <a:ext cx="4916691" cy="137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Matches our query-to-product relevance objective and search-oriented recommendation setup.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 rot="-1442057">
            <a:off x="16180373" y="777430"/>
            <a:ext cx="1289607" cy="1228941"/>
          </a:xfrm>
          <a:custGeom>
            <a:rect b="b" l="l" r="r" t="t"/>
            <a:pathLst>
              <a:path extrusionOk="0" h="2992249" w="3183244">
                <a:moveTo>
                  <a:pt x="0" y="0"/>
                </a:moveTo>
                <a:lnTo>
                  <a:pt x="3183243" y="0"/>
                </a:lnTo>
                <a:lnTo>
                  <a:pt x="3183243" y="2992249"/>
                </a:lnTo>
                <a:lnTo>
                  <a:pt x="0" y="299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13639800" y="244845"/>
            <a:ext cx="1520741" cy="1444948"/>
          </a:xfrm>
          <a:custGeom>
            <a:rect b="b" l="l" r="r" t="t"/>
            <a:pathLst>
              <a:path extrusionOk="0" h="2492265" w="2848303">
                <a:moveTo>
                  <a:pt x="0" y="0"/>
                </a:moveTo>
                <a:lnTo>
                  <a:pt x="2848303" y="0"/>
                </a:lnTo>
                <a:lnTo>
                  <a:pt x="2848303" y="2492265"/>
                </a:lnTo>
                <a:lnTo>
                  <a:pt x="0" y="24922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885673" y="1966170"/>
            <a:ext cx="16516445" cy="6010846"/>
          </a:xfrm>
          <a:custGeom>
            <a:rect b="b" l="l" r="r" t="t"/>
            <a:pathLst>
              <a:path extrusionOk="0" h="6010846" w="16516445">
                <a:moveTo>
                  <a:pt x="0" y="0"/>
                </a:moveTo>
                <a:lnTo>
                  <a:pt x="16516445" y="0"/>
                </a:lnTo>
                <a:lnTo>
                  <a:pt x="16516445" y="6010846"/>
                </a:lnTo>
                <a:lnTo>
                  <a:pt x="0" y="60108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-4111" l="0" r="0" t="-14111"/>
            </a:stretch>
          </a:blipFill>
          <a:ln>
            <a:noFill/>
          </a:ln>
        </p:spPr>
      </p:sp>
      <p:sp>
        <p:nvSpPr>
          <p:cNvPr id="171" name="Google Shape;171;p6"/>
          <p:cNvSpPr txBox="1"/>
          <p:nvPr/>
        </p:nvSpPr>
        <p:spPr>
          <a:xfrm>
            <a:off x="1139428" y="638308"/>
            <a:ext cx="7215950" cy="838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3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8"/>
              <a:buFont typeface="Arial"/>
              <a:buNone/>
            </a:pPr>
            <a:r>
              <a:rPr b="1" i="0" lang="en-US" sz="4688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Literature Review (2/2)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139428" y="1968103"/>
            <a:ext cx="835819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2463108" y="1968103"/>
            <a:ext cx="3963743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6914702" y="1968103"/>
            <a:ext cx="4788246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2190809" y="1968103"/>
            <a:ext cx="4957915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Matches Our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1139428" y="2581866"/>
            <a:ext cx="835819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[17]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2463108" y="2581866"/>
            <a:ext cx="3963743" cy="1649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Retrieval-augmented multilingual e-commerce attribute prediction using filtering, BM25, and reranking.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6914702" y="2581866"/>
            <a:ext cx="4788246" cy="80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coverage and tested on a single main LLM setup.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2190809" y="2581866"/>
            <a:ext cx="4957915" cy="122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Matches our multilingual setting and structured product-attribute understanding.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1139428" y="4487457"/>
            <a:ext cx="835819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[19]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2463108" y="4487457"/>
            <a:ext cx="4451594" cy="1649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recommendation using LLM user embeddings, transformer-based ranking, ontology reasoning, and knowledge distillation.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914702" y="4487457"/>
            <a:ext cx="4788246" cy="80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dependence on domain ontology and evaluation on only one dataset.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2190809" y="4487457"/>
            <a:ext cx="4957915" cy="80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Matches our hybrid ranking strategy and multi-signal recommendation design.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1139428" y="6479287"/>
            <a:ext cx="835819" cy="3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2463108" y="6479287"/>
            <a:ext cx="4198200" cy="2072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Explainable e-commerce recommendation with an LLM-powered product knowledge graph, offline construction, and online serving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914702" y="6479287"/>
            <a:ext cx="4788246" cy="122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category scope, mostly item-centric results, and hallucination concerns.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2190809" y="6479287"/>
            <a:ext cx="4957915" cy="122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4"/>
              <a:buFont typeface="Arial"/>
              <a:buNone/>
            </a:pPr>
            <a:r>
              <a:rPr b="1" i="0" lang="en-US" sz="18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Matches our e-commerce recommendation focus and explainable, structured product understanding.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 rot="1298868">
            <a:off x="13343374" y="9167"/>
            <a:ext cx="1867304" cy="1641766"/>
          </a:xfrm>
          <a:custGeom>
            <a:rect b="b" l="l" r="r" t="t"/>
            <a:pathLst>
              <a:path extrusionOk="0" h="2492265" w="2848303">
                <a:moveTo>
                  <a:pt x="0" y="0"/>
                </a:moveTo>
                <a:lnTo>
                  <a:pt x="2848303" y="0"/>
                </a:lnTo>
                <a:lnTo>
                  <a:pt x="2848303" y="2492265"/>
                </a:lnTo>
                <a:lnTo>
                  <a:pt x="0" y="24922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6"/>
          <p:cNvSpPr/>
          <p:nvPr/>
        </p:nvSpPr>
        <p:spPr>
          <a:xfrm>
            <a:off x="15773400" y="268434"/>
            <a:ext cx="1856149" cy="1123232"/>
          </a:xfrm>
          <a:custGeom>
            <a:rect b="b" l="l" r="r" t="t"/>
            <a:pathLst>
              <a:path extrusionOk="0" h="2729821" w="3412276">
                <a:moveTo>
                  <a:pt x="0" y="0"/>
                </a:moveTo>
                <a:lnTo>
                  <a:pt x="3412276" y="0"/>
                </a:lnTo>
                <a:lnTo>
                  <a:pt x="3412276" y="2729821"/>
                </a:lnTo>
                <a:lnTo>
                  <a:pt x="0" y="272982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284925" y="317100"/>
            <a:ext cx="17735018" cy="9738360"/>
          </a:xfrm>
          <a:custGeom>
            <a:rect b="b" l="l" r="r" t="t"/>
            <a:pathLst>
              <a:path extrusionOk="0" h="13716000" w="24378031">
                <a:moveTo>
                  <a:pt x="0" y="0"/>
                </a:moveTo>
                <a:lnTo>
                  <a:pt x="24378031" y="0"/>
                </a:lnTo>
                <a:lnTo>
                  <a:pt x="24378031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7000"/>
            </a:blip>
            <a:stretch>
              <a:fillRect b="-14111" l="0" r="0" t="-4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200" name="Google Shape;200;p8"/>
          <p:cNvSpPr/>
          <p:nvPr/>
        </p:nvSpPr>
        <p:spPr>
          <a:xfrm>
            <a:off x="1201636" y="3223098"/>
            <a:ext cx="5434488" cy="837343"/>
          </a:xfrm>
          <a:custGeom>
            <a:rect b="b" l="l" r="r" t="t"/>
            <a:pathLst>
              <a:path extrusionOk="0" h="1116457" w="7245985">
                <a:moveTo>
                  <a:pt x="0" y="0"/>
                </a:moveTo>
                <a:lnTo>
                  <a:pt x="7245985" y="0"/>
                </a:lnTo>
                <a:lnTo>
                  <a:pt x="7245985" y="1116457"/>
                </a:lnTo>
                <a:lnTo>
                  <a:pt x="0" y="1116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" l="0" r="0" t="-13"/>
            </a:stretch>
          </a:blipFill>
          <a:ln>
            <a:noFill/>
          </a:ln>
        </p:spPr>
      </p:sp>
      <p:sp>
        <p:nvSpPr>
          <p:cNvPr descr="preencoded.png" id="201" name="Google Shape;201;p8"/>
          <p:cNvSpPr/>
          <p:nvPr/>
        </p:nvSpPr>
        <p:spPr>
          <a:xfrm>
            <a:off x="6636096" y="3223098"/>
            <a:ext cx="5434488" cy="837343"/>
          </a:xfrm>
          <a:custGeom>
            <a:rect b="b" l="l" r="r" t="t"/>
            <a:pathLst>
              <a:path extrusionOk="0" h="1116457" w="7245985">
                <a:moveTo>
                  <a:pt x="0" y="0"/>
                </a:moveTo>
                <a:lnTo>
                  <a:pt x="7245985" y="0"/>
                </a:lnTo>
                <a:lnTo>
                  <a:pt x="7245985" y="1116457"/>
                </a:lnTo>
                <a:lnTo>
                  <a:pt x="0" y="1116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" l="0" r="0" t="-13"/>
            </a:stretch>
          </a:blipFill>
          <a:ln>
            <a:noFill/>
          </a:ln>
        </p:spPr>
      </p:sp>
      <p:sp>
        <p:nvSpPr>
          <p:cNvPr descr="preencoded.png" id="202" name="Google Shape;202;p8"/>
          <p:cNvSpPr/>
          <p:nvPr/>
        </p:nvSpPr>
        <p:spPr>
          <a:xfrm>
            <a:off x="12070556" y="3223098"/>
            <a:ext cx="5434488" cy="837343"/>
          </a:xfrm>
          <a:custGeom>
            <a:rect b="b" l="l" r="r" t="t"/>
            <a:pathLst>
              <a:path extrusionOk="0" h="1116457" w="7245985">
                <a:moveTo>
                  <a:pt x="0" y="0"/>
                </a:moveTo>
                <a:lnTo>
                  <a:pt x="7245985" y="0"/>
                </a:lnTo>
                <a:lnTo>
                  <a:pt x="7245985" y="1116457"/>
                </a:lnTo>
                <a:lnTo>
                  <a:pt x="0" y="1116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" l="0" r="0" t="-13"/>
            </a:stretch>
          </a:blipFill>
          <a:ln>
            <a:noFill/>
          </a:ln>
        </p:spPr>
      </p:sp>
      <p:sp>
        <p:nvSpPr>
          <p:cNvPr descr="preencoded.png" id="203" name="Google Shape;203;p8"/>
          <p:cNvSpPr/>
          <p:nvPr/>
        </p:nvSpPr>
        <p:spPr>
          <a:xfrm>
            <a:off x="1201636" y="5911529"/>
            <a:ext cx="5434488" cy="837343"/>
          </a:xfrm>
          <a:custGeom>
            <a:rect b="b" l="l" r="r" t="t"/>
            <a:pathLst>
              <a:path extrusionOk="0" h="1116457" w="7245985">
                <a:moveTo>
                  <a:pt x="0" y="0"/>
                </a:moveTo>
                <a:lnTo>
                  <a:pt x="7245985" y="0"/>
                </a:lnTo>
                <a:lnTo>
                  <a:pt x="7245985" y="1116457"/>
                </a:lnTo>
                <a:lnTo>
                  <a:pt x="0" y="1116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" l="0" r="0" t="-13"/>
            </a:stretch>
          </a:blipFill>
          <a:ln>
            <a:noFill/>
          </a:ln>
        </p:spPr>
      </p:sp>
      <p:sp>
        <p:nvSpPr>
          <p:cNvPr descr="preencoded.png" id="204" name="Google Shape;204;p8"/>
          <p:cNvSpPr/>
          <p:nvPr/>
        </p:nvSpPr>
        <p:spPr>
          <a:xfrm>
            <a:off x="6636096" y="5911529"/>
            <a:ext cx="5434488" cy="837343"/>
          </a:xfrm>
          <a:custGeom>
            <a:rect b="b" l="l" r="r" t="t"/>
            <a:pathLst>
              <a:path extrusionOk="0" h="1116457" w="7245985">
                <a:moveTo>
                  <a:pt x="0" y="0"/>
                </a:moveTo>
                <a:lnTo>
                  <a:pt x="7245985" y="0"/>
                </a:lnTo>
                <a:lnTo>
                  <a:pt x="7245985" y="1116457"/>
                </a:lnTo>
                <a:lnTo>
                  <a:pt x="0" y="1116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" l="0" r="0" t="-13"/>
            </a:stretch>
          </a:blipFill>
          <a:ln>
            <a:noFill/>
          </a:ln>
        </p:spPr>
      </p:sp>
      <p:sp>
        <p:nvSpPr>
          <p:cNvPr id="205" name="Google Shape;205;p8"/>
          <p:cNvSpPr txBox="1"/>
          <p:nvPr/>
        </p:nvSpPr>
        <p:spPr>
          <a:xfrm>
            <a:off x="1201636" y="1380458"/>
            <a:ext cx="16303523" cy="62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End-to-End System Architecture</a:t>
            </a:r>
            <a:endParaRPr b="1" i="0" sz="4100" u="none" cap="none" strike="noStrike">
              <a:solidFill>
                <a:srgbClr val="63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1410891" y="4227395"/>
            <a:ext cx="5015951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1410891" y="4631760"/>
            <a:ext cx="5015951" cy="899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 &amp;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20,685 reviews · 302 products · Schema harmonization · Unicode cleaning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6845351" y="4227395"/>
            <a:ext cx="5015951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6845351" y="4631760"/>
            <a:ext cx="5015951" cy="899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 Grouping &amp; Profiling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83 raw attributes → 16 canonical aspects · Per-product sentiment aggregation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12279811" y="4227395"/>
            <a:ext cx="5015951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2279811" y="4631760"/>
            <a:ext cx="501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Encoding &amp; Indexing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Dense transformer vectors + sparse character n-grams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1410891" y="6915826"/>
            <a:ext cx="5015951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1410891" y="7320191"/>
            <a:ext cx="5015951" cy="899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Understanding &amp; Scoring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feature signals · Budget parsing · Category hard-constraint masking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6845351" y="6915826"/>
            <a:ext cx="5015951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6845351" y="7320191"/>
            <a:ext cx="5015951" cy="899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Neural Reranking &amp;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5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3-layer MLP reranker · Blended final score · RecomPro web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 rot="1498675">
            <a:off x="15280674" y="793854"/>
            <a:ext cx="1615628" cy="1471720"/>
          </a:xfrm>
          <a:custGeom>
            <a:rect b="b" l="l" r="r" t="t"/>
            <a:pathLst>
              <a:path extrusionOk="0" h="2983617" w="3638557">
                <a:moveTo>
                  <a:pt x="0" y="0"/>
                </a:moveTo>
                <a:lnTo>
                  <a:pt x="3638557" y="0"/>
                </a:lnTo>
                <a:lnTo>
                  <a:pt x="3638557" y="2983617"/>
                </a:lnTo>
                <a:lnTo>
                  <a:pt x="0" y="2983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 rot="-2446712">
            <a:off x="14800549" y="-403976"/>
            <a:ext cx="2569986" cy="2566047"/>
          </a:xfrm>
          <a:custGeom>
            <a:rect b="b" l="l" r="r" t="t"/>
            <a:pathLst>
              <a:path extrusionOk="0" h="4114800" w="4135477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F2DE"/>
          </a:solidFill>
          <a:ln>
            <a:noFill/>
          </a:ln>
        </p:spPr>
      </p:sp>
      <p:sp>
        <p:nvSpPr>
          <p:cNvPr id="223" name="Google Shape;22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403234"/>
          </a:solidFill>
          <a:ln>
            <a:noFill/>
          </a:ln>
        </p:spPr>
      </p:sp>
      <p:sp>
        <p:nvSpPr>
          <p:cNvPr id="224" name="Google Shape;224;p9"/>
          <p:cNvSpPr txBox="1"/>
          <p:nvPr/>
        </p:nvSpPr>
        <p:spPr>
          <a:xfrm>
            <a:off x="7139035" y="232286"/>
            <a:ext cx="4608462" cy="735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992238" y="1463431"/>
            <a:ext cx="810532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20,685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992238" y="1939090"/>
            <a:ext cx="8105327" cy="2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Usable 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9144000" y="1463431"/>
            <a:ext cx="81054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302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9144000" y="1939090"/>
            <a:ext cx="8105480" cy="2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Unique 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992238" y="2674896"/>
            <a:ext cx="810532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992238" y="3150546"/>
            <a:ext cx="8105327" cy="2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E-Commerce Categories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9144000" y="2674896"/>
            <a:ext cx="81054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9144000" y="3150546"/>
            <a:ext cx="8105480" cy="2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Raw Aspect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992238" y="4513793"/>
            <a:ext cx="7154466" cy="22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Sentiment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34" name="Google Shape;234;p9"/>
          <p:cNvSpPr/>
          <p:nvPr/>
        </p:nvSpPr>
        <p:spPr>
          <a:xfrm>
            <a:off x="992238" y="4727743"/>
            <a:ext cx="7154513" cy="5428393"/>
          </a:xfrm>
          <a:custGeom>
            <a:rect b="b" l="l" r="r" t="t"/>
            <a:pathLst>
              <a:path extrusionOk="0" h="7237857" w="9539351">
                <a:moveTo>
                  <a:pt x="0" y="0"/>
                </a:moveTo>
                <a:lnTo>
                  <a:pt x="9539351" y="0"/>
                </a:lnTo>
                <a:lnTo>
                  <a:pt x="9539351" y="7237857"/>
                </a:lnTo>
                <a:lnTo>
                  <a:pt x="0" y="7237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0" r="-49" t="0"/>
            </a:stretch>
          </a:blipFill>
          <a:ln>
            <a:noFill/>
          </a:ln>
        </p:spPr>
      </p:sp>
      <p:graphicFrame>
        <p:nvGraphicFramePr>
          <p:cNvPr id="235" name="Google Shape;235;p9"/>
          <p:cNvGraphicFramePr/>
          <p:nvPr/>
        </p:nvGraphicFramePr>
        <p:xfrm>
          <a:off x="8417214" y="4069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{56AAE2FD-075D-4CDE-8AA6-C970B7EDC8F5}</a:tableStyleId>
              </a:tblPr>
              <a:tblGrid>
                <a:gridCol w="1568900"/>
                <a:gridCol w="384975"/>
                <a:gridCol w="1254725"/>
                <a:gridCol w="480825"/>
                <a:gridCol w="1600875"/>
                <a:gridCol w="1287225"/>
                <a:gridCol w="1161275"/>
                <a:gridCol w="1735450"/>
              </a:tblGrid>
              <a:tr h="6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Marketplace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..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Category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……….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Reviews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Sentiment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 </a:t>
                      </a:r>
                      <a:endParaRPr b="1" sz="1399" u="none" cap="none" strike="noStrike">
                        <a:solidFill>
                          <a:srgbClr val="FFF8F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Aspects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(Quality)</a:t>
                      </a:r>
                      <a:endParaRPr b="1" sz="1399" u="none" cap="none" strike="noStrike">
                        <a:solidFill>
                          <a:srgbClr val="FFF8F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Aspects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(Connection)</a:t>
                      </a:r>
                      <a:endParaRPr b="1" sz="1399" u="none" cap="none" strike="noStrike">
                        <a:solidFill>
                          <a:srgbClr val="FFF8F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575" marB="68575" marR="68575" marL="68575"/>
                </a:tc>
              </a:tr>
              <a:tr h="282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Daraz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..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Mouse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……..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একদম আহামরি কিছু না। খুবই হালকা এবং দাম অনুযায়ী ভালো। আমার ডেলিভারি চার্জ সহ ২৩৮ টাকা লেগেছে এই দামে ভালো প্রোডাক্ট 🙂.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</a:tr>
              <a:tr h="6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Daraz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…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Router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……..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Connection drop মাঝে মাঝে।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-1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-1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</a:tr>
              <a:tr h="116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Daraz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..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ear_headphone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………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good quality but majhe majeh connection thake na.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99"/>
                        <a:buFont typeface="Arial"/>
                        <a:buNone/>
                      </a:pPr>
                      <a:r>
                        <a:rPr b="1" lang="en-US" sz="1399" u="none" cap="none" strike="noStrike">
                          <a:solidFill>
                            <a:srgbClr val="FFF8F5"/>
                          </a:solidFill>
                        </a:rPr>
                        <a:t>-1</a:t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-9111" l="0" r="0" t="-9111"/>
            </a:stretch>
          </a:blipFill>
          <a:ln>
            <a:noFill/>
          </a:ln>
        </p:spPr>
      </p:sp>
      <p:sp>
        <p:nvSpPr>
          <p:cNvPr id="241" name="Google Shape;241;p10"/>
          <p:cNvSpPr txBox="1"/>
          <p:nvPr/>
        </p:nvSpPr>
        <p:spPr>
          <a:xfrm>
            <a:off x="1383992" y="2852718"/>
            <a:ext cx="567033" cy="48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383992" y="3544167"/>
            <a:ext cx="5245418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B5F39"/>
          </a:solidFill>
          <a:ln>
            <a:noFill/>
          </a:ln>
        </p:spPr>
      </p:sp>
      <p:sp>
        <p:nvSpPr>
          <p:cNvPr id="243" name="Google Shape;243;p10"/>
          <p:cNvSpPr txBox="1"/>
          <p:nvPr/>
        </p:nvSpPr>
        <p:spPr>
          <a:xfrm>
            <a:off x="6912960" y="2852718"/>
            <a:ext cx="567033" cy="48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912960" y="3544167"/>
            <a:ext cx="5245418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B5F39"/>
          </a:solidFill>
          <a:ln>
            <a:noFill/>
          </a:ln>
        </p:spPr>
      </p:sp>
      <p:sp>
        <p:nvSpPr>
          <p:cNvPr id="245" name="Google Shape;245;p10"/>
          <p:cNvSpPr txBox="1"/>
          <p:nvPr/>
        </p:nvSpPr>
        <p:spPr>
          <a:xfrm>
            <a:off x="6912960" y="4208174"/>
            <a:ext cx="5245446" cy="1588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Removed noise, special characters, and irrelevant markup from review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12441917" y="2852718"/>
            <a:ext cx="567033" cy="48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2441917" y="3544167"/>
            <a:ext cx="5245418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B5F39"/>
          </a:solidFill>
          <a:ln>
            <a:noFill/>
          </a:ln>
        </p:spPr>
      </p:sp>
      <p:sp>
        <p:nvSpPr>
          <p:cNvPr id="248" name="Google Shape;248;p10"/>
          <p:cNvSpPr txBox="1"/>
          <p:nvPr/>
        </p:nvSpPr>
        <p:spPr>
          <a:xfrm>
            <a:off x="1383992" y="5530729"/>
            <a:ext cx="567033" cy="48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383992" y="6222187"/>
            <a:ext cx="8009954" cy="38100"/>
          </a:xfrm>
          <a:custGeom>
            <a:rect b="b" l="l" r="r" t="t"/>
            <a:pathLst>
              <a:path extrusionOk="0" h="50800" w="10679938">
                <a:moveTo>
                  <a:pt x="0" y="0"/>
                </a:moveTo>
                <a:lnTo>
                  <a:pt x="10679938" y="0"/>
                </a:lnTo>
                <a:lnTo>
                  <a:pt x="10679938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B5F39"/>
          </a:solidFill>
          <a:ln>
            <a:noFill/>
          </a:ln>
        </p:spPr>
      </p:sp>
      <p:sp>
        <p:nvSpPr>
          <p:cNvPr id="250" name="Google Shape;250;p10"/>
          <p:cNvSpPr txBox="1"/>
          <p:nvPr/>
        </p:nvSpPr>
        <p:spPr>
          <a:xfrm>
            <a:off x="9677438" y="5530729"/>
            <a:ext cx="567033" cy="48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9677438" y="6222187"/>
            <a:ext cx="8009954" cy="38100"/>
          </a:xfrm>
          <a:custGeom>
            <a:rect b="b" l="l" r="r" t="t"/>
            <a:pathLst>
              <a:path extrusionOk="0" h="50800" w="10679938">
                <a:moveTo>
                  <a:pt x="0" y="0"/>
                </a:moveTo>
                <a:lnTo>
                  <a:pt x="10679938" y="0"/>
                </a:lnTo>
                <a:lnTo>
                  <a:pt x="10679938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B5F39"/>
          </a:solidFill>
          <a:ln>
            <a:noFill/>
          </a:ln>
        </p:spPr>
      </p:sp>
      <p:sp>
        <p:nvSpPr>
          <p:cNvPr id="252" name="Google Shape;252;p10"/>
          <p:cNvSpPr txBox="1"/>
          <p:nvPr/>
        </p:nvSpPr>
        <p:spPr>
          <a:xfrm>
            <a:off x="1383992" y="1466383"/>
            <a:ext cx="7088238" cy="98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62"/>
              <a:buFont typeface="Arial"/>
              <a:buNone/>
            </a:pPr>
            <a:r>
              <a:rPr b="1" i="0" lang="en-US" sz="5562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383992" y="3657276"/>
            <a:ext cx="4176665" cy="4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Schema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1383992" y="4256180"/>
            <a:ext cx="5245446" cy="103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Unified column names and schema across all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6912960" y="3657276"/>
            <a:ext cx="3544043" cy="4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Cleaning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12441917" y="3657276"/>
            <a:ext cx="4536291" cy="4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Value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12441917" y="4247826"/>
            <a:ext cx="5245446" cy="103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Safely imputed or flagged missing entries to preserve data integrity.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1383992" y="6335297"/>
            <a:ext cx="5014865" cy="4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 Column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1383992" y="6896100"/>
            <a:ext cx="8009934" cy="103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identified and validated aspect annotation columns per category.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9677438" y="6335297"/>
            <a:ext cx="3544043" cy="4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 Product IDs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9677400" y="6896100"/>
            <a:ext cx="8009934" cy="103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Generated stable unique identifiers for consistent product tracking.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 rot="-1613585">
            <a:off x="15016744" y="695789"/>
            <a:ext cx="1683125" cy="1651917"/>
          </a:xfrm>
          <a:custGeom>
            <a:rect b="b" l="l" r="r" t="t"/>
            <a:pathLst>
              <a:path extrusionOk="0" h="3731062" w="2872917">
                <a:moveTo>
                  <a:pt x="0" y="0"/>
                </a:moveTo>
                <a:lnTo>
                  <a:pt x="2872917" y="0"/>
                </a:lnTo>
                <a:lnTo>
                  <a:pt x="2872917" y="3731061"/>
                </a:lnTo>
                <a:lnTo>
                  <a:pt x="0" y="3731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0"/>
          <p:cNvSpPr/>
          <p:nvPr/>
        </p:nvSpPr>
        <p:spPr>
          <a:xfrm>
            <a:off x="14896347" y="15354"/>
            <a:ext cx="2085273" cy="2004463"/>
          </a:xfrm>
          <a:custGeom>
            <a:rect b="b" l="l" r="r" t="t"/>
            <a:pathLst>
              <a:path extrusionOk="0" h="2731273" w="2540084">
                <a:moveTo>
                  <a:pt x="0" y="0"/>
                </a:moveTo>
                <a:lnTo>
                  <a:pt x="2540084" y="0"/>
                </a:lnTo>
                <a:lnTo>
                  <a:pt x="2540084" y="2731273"/>
                </a:lnTo>
                <a:lnTo>
                  <a:pt x="0" y="273127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7000"/>
            </a:blip>
            <a:stretch>
              <a:fillRect b="-6358" l="-2023" r="-2023" t="0"/>
            </a:stretch>
          </a:blipFill>
          <a:ln>
            <a:noFill/>
          </a:ln>
        </p:spPr>
      </p:sp>
      <p:sp>
        <p:nvSpPr>
          <p:cNvPr id="270" name="Google Shape;270;p11"/>
          <p:cNvSpPr/>
          <p:nvPr/>
        </p:nvSpPr>
        <p:spPr>
          <a:xfrm>
            <a:off x="838800" y="1628327"/>
            <a:ext cx="6516338" cy="7971282"/>
          </a:xfrm>
          <a:custGeom>
            <a:rect b="b" l="l" r="r" t="t"/>
            <a:pathLst>
              <a:path extrusionOk="0" h="10628376" w="8688451">
                <a:moveTo>
                  <a:pt x="0" y="42672"/>
                </a:moveTo>
                <a:cubicBezTo>
                  <a:pt x="0" y="19050"/>
                  <a:pt x="19050" y="0"/>
                  <a:pt x="42672" y="0"/>
                </a:cubicBezTo>
                <a:lnTo>
                  <a:pt x="8645779" y="0"/>
                </a:lnTo>
                <a:cubicBezTo>
                  <a:pt x="8669401" y="0"/>
                  <a:pt x="8688451" y="19050"/>
                  <a:pt x="8688451" y="42672"/>
                </a:cubicBezTo>
                <a:lnTo>
                  <a:pt x="8688451" y="10585704"/>
                </a:lnTo>
                <a:cubicBezTo>
                  <a:pt x="8688451" y="10609326"/>
                  <a:pt x="8669401" y="10628376"/>
                  <a:pt x="8645779" y="10628376"/>
                </a:cubicBezTo>
                <a:lnTo>
                  <a:pt x="42672" y="10628376"/>
                </a:lnTo>
                <a:cubicBezTo>
                  <a:pt x="19050" y="10628376"/>
                  <a:pt x="0" y="10609326"/>
                  <a:pt x="0" y="10585704"/>
                </a:cubicBez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051922" y="3802409"/>
            <a:ext cx="6090095" cy="1741646"/>
          </a:xfrm>
          <a:custGeom>
            <a:rect b="b" l="l" r="r" t="t"/>
            <a:pathLst>
              <a:path extrusionOk="0" h="2322195" w="8120126">
                <a:moveTo>
                  <a:pt x="0" y="42672"/>
                </a:moveTo>
                <a:cubicBezTo>
                  <a:pt x="0" y="19050"/>
                  <a:pt x="19050" y="0"/>
                  <a:pt x="42672" y="0"/>
                </a:cubicBezTo>
                <a:lnTo>
                  <a:pt x="8077454" y="0"/>
                </a:lnTo>
                <a:cubicBezTo>
                  <a:pt x="8100949" y="0"/>
                  <a:pt x="8120126" y="19050"/>
                  <a:pt x="8120126" y="42672"/>
                </a:cubicBezTo>
                <a:lnTo>
                  <a:pt x="8120126" y="2279523"/>
                </a:lnTo>
                <a:cubicBezTo>
                  <a:pt x="8120126" y="2303018"/>
                  <a:pt x="8101076" y="2322195"/>
                  <a:pt x="8077454" y="2322195"/>
                </a:cubicBezTo>
                <a:lnTo>
                  <a:pt x="42672" y="2322195"/>
                </a:lnTo>
                <a:cubicBezTo>
                  <a:pt x="19177" y="2322195"/>
                  <a:pt x="0" y="2303145"/>
                  <a:pt x="0" y="2279523"/>
                </a:cubicBezTo>
                <a:close/>
              </a:path>
            </a:pathLst>
          </a:cu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51922" y="5727202"/>
            <a:ext cx="6090095" cy="1741646"/>
          </a:xfrm>
          <a:custGeom>
            <a:rect b="b" l="l" r="r" t="t"/>
            <a:pathLst>
              <a:path extrusionOk="0" h="2322195" w="8120126">
                <a:moveTo>
                  <a:pt x="0" y="42672"/>
                </a:moveTo>
                <a:cubicBezTo>
                  <a:pt x="0" y="19050"/>
                  <a:pt x="19050" y="0"/>
                  <a:pt x="42672" y="0"/>
                </a:cubicBezTo>
                <a:lnTo>
                  <a:pt x="8077454" y="0"/>
                </a:lnTo>
                <a:cubicBezTo>
                  <a:pt x="8100949" y="0"/>
                  <a:pt x="8120126" y="19050"/>
                  <a:pt x="8120126" y="42672"/>
                </a:cubicBezTo>
                <a:lnTo>
                  <a:pt x="8120126" y="2279523"/>
                </a:lnTo>
                <a:cubicBezTo>
                  <a:pt x="8120126" y="2303018"/>
                  <a:pt x="8101076" y="2322195"/>
                  <a:pt x="8077454" y="2322195"/>
                </a:cubicBezTo>
                <a:lnTo>
                  <a:pt x="42672" y="2322195"/>
                </a:lnTo>
                <a:cubicBezTo>
                  <a:pt x="19177" y="2322195"/>
                  <a:pt x="0" y="2303145"/>
                  <a:pt x="0" y="2279523"/>
                </a:cubicBezTo>
                <a:close/>
              </a:path>
            </a:pathLst>
          </a:cu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51922" y="7651994"/>
            <a:ext cx="6090095" cy="1741646"/>
          </a:xfrm>
          <a:custGeom>
            <a:rect b="b" l="l" r="r" t="t"/>
            <a:pathLst>
              <a:path extrusionOk="0" h="2322195" w="8120126">
                <a:moveTo>
                  <a:pt x="0" y="42672"/>
                </a:moveTo>
                <a:cubicBezTo>
                  <a:pt x="0" y="19050"/>
                  <a:pt x="19050" y="0"/>
                  <a:pt x="42672" y="0"/>
                </a:cubicBezTo>
                <a:lnTo>
                  <a:pt x="8077454" y="0"/>
                </a:lnTo>
                <a:cubicBezTo>
                  <a:pt x="8100949" y="0"/>
                  <a:pt x="8120126" y="19050"/>
                  <a:pt x="8120126" y="42672"/>
                </a:cubicBezTo>
                <a:lnTo>
                  <a:pt x="8120126" y="2279523"/>
                </a:lnTo>
                <a:cubicBezTo>
                  <a:pt x="8120126" y="2303018"/>
                  <a:pt x="8101076" y="2322195"/>
                  <a:pt x="8077454" y="2322195"/>
                </a:cubicBezTo>
                <a:lnTo>
                  <a:pt x="42672" y="2322195"/>
                </a:lnTo>
                <a:cubicBezTo>
                  <a:pt x="19177" y="2322195"/>
                  <a:pt x="0" y="2303145"/>
                  <a:pt x="0" y="2279523"/>
                </a:cubicBezTo>
                <a:close/>
              </a:path>
            </a:pathLst>
          </a:cu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721651" y="2976276"/>
            <a:ext cx="9583579" cy="5107591"/>
          </a:xfrm>
          <a:custGeom>
            <a:rect b="b" l="l" r="r" t="t"/>
            <a:pathLst>
              <a:path extrusionOk="0" h="6810121" w="12778105">
                <a:moveTo>
                  <a:pt x="0" y="42672"/>
                </a:moveTo>
                <a:cubicBezTo>
                  <a:pt x="0" y="19177"/>
                  <a:pt x="19177" y="0"/>
                  <a:pt x="42672" y="0"/>
                </a:cubicBezTo>
                <a:lnTo>
                  <a:pt x="12735433" y="0"/>
                </a:lnTo>
                <a:cubicBezTo>
                  <a:pt x="12759055" y="0"/>
                  <a:pt x="12778105" y="19177"/>
                  <a:pt x="12778105" y="42672"/>
                </a:cubicBezTo>
                <a:lnTo>
                  <a:pt x="12778105" y="6767449"/>
                </a:lnTo>
                <a:cubicBezTo>
                  <a:pt x="12778105" y="6791071"/>
                  <a:pt x="12758928" y="6810121"/>
                  <a:pt x="12735433" y="6810121"/>
                </a:cubicBezTo>
                <a:lnTo>
                  <a:pt x="42672" y="6810121"/>
                </a:lnTo>
                <a:cubicBezTo>
                  <a:pt x="19050" y="6810121"/>
                  <a:pt x="0" y="6790944"/>
                  <a:pt x="0" y="6767449"/>
                </a:cubicBez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0" l="-18381" r="-18381" t="0"/>
            </a:stretch>
          </a:blipFill>
          <a:ln cap="sq" cmpd="sng" w="9525">
            <a:solidFill>
              <a:srgbClr val="FFF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726414" y="3551205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76" name="Google Shape;276;p11"/>
          <p:cNvSpPr/>
          <p:nvPr/>
        </p:nvSpPr>
        <p:spPr>
          <a:xfrm>
            <a:off x="7726414" y="4116599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77" name="Google Shape;277;p11"/>
          <p:cNvSpPr/>
          <p:nvPr/>
        </p:nvSpPr>
        <p:spPr>
          <a:xfrm>
            <a:off x="7726414" y="4681993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78" name="Google Shape;278;p11"/>
          <p:cNvSpPr/>
          <p:nvPr/>
        </p:nvSpPr>
        <p:spPr>
          <a:xfrm>
            <a:off x="7726414" y="5247397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79" name="Google Shape;279;p11"/>
          <p:cNvSpPr/>
          <p:nvPr/>
        </p:nvSpPr>
        <p:spPr>
          <a:xfrm>
            <a:off x="7726414" y="5812792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80" name="Google Shape;280;p11"/>
          <p:cNvSpPr/>
          <p:nvPr/>
        </p:nvSpPr>
        <p:spPr>
          <a:xfrm>
            <a:off x="7726414" y="6378186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81" name="Google Shape;281;p11"/>
          <p:cNvSpPr/>
          <p:nvPr/>
        </p:nvSpPr>
        <p:spPr>
          <a:xfrm>
            <a:off x="7726414" y="6943590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82" name="Google Shape;282;p11"/>
          <p:cNvSpPr/>
          <p:nvPr/>
        </p:nvSpPr>
        <p:spPr>
          <a:xfrm>
            <a:off x="7726414" y="7508985"/>
            <a:ext cx="9574149" cy="13335"/>
          </a:xfrm>
          <a:custGeom>
            <a:rect b="b" l="l" r="r" t="t"/>
            <a:pathLst>
              <a:path extrusionOk="0" h="17780" w="12765532">
                <a:moveTo>
                  <a:pt x="0" y="0"/>
                </a:moveTo>
                <a:lnTo>
                  <a:pt x="12765532" y="0"/>
                </a:lnTo>
                <a:lnTo>
                  <a:pt x="12765532" y="17780"/>
                </a:lnTo>
                <a:lnTo>
                  <a:pt x="0" y="1778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283" name="Google Shape;283;p11"/>
          <p:cNvSpPr txBox="1"/>
          <p:nvPr/>
        </p:nvSpPr>
        <p:spPr>
          <a:xfrm>
            <a:off x="992238" y="668388"/>
            <a:ext cx="16303523" cy="62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Data Split &amp; Dense Model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1051922" y="1802016"/>
            <a:ext cx="6090047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Leakage-Controlled Data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1051922" y="2289724"/>
            <a:ext cx="6090047" cy="120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Product-level splitting ensures all </a:t>
            </a:r>
            <a:r>
              <a:rPr b="1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302 products</a:t>
            </a:r>
            <a:r>
              <a:rPr b="0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remain in the catalog while preventing identical review text from leaking across splits — a critical design decision for unbiased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1265044" y="4006005"/>
            <a:ext cx="5663803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Train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1265044" y="4493714"/>
            <a:ext cx="5663803" cy="591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16,557 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80% of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1265044" y="5930798"/>
            <a:ext cx="5663803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1265044" y="6418507"/>
            <a:ext cx="5663803" cy="591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2,059 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10% of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1265044" y="7855591"/>
            <a:ext cx="5663803" cy="3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1265044" y="8343300"/>
            <a:ext cx="5663803" cy="591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2,069 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10% of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7731176" y="1802016"/>
            <a:ext cx="9574111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Model &amp; Training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7949204" y="3071821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11293374" y="3071821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7949204" y="3637225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Backbone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11293374" y="3599125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intfloat/multilingual-e5-base (XLM-RoBERTa)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7949204" y="4202619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11293374" y="4202619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Negatives Ranking Loss (InfoNCE, τ = 0.05)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7949204" y="4768023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Pairs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11293374" y="4768023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19,134 query–profile pairs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7949204" y="5333418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11293374" y="5333418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7949204" y="5898812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11293374" y="5898812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AdamW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7949204" y="6464216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11293374" y="6464216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2e-5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7949204" y="7029611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Warmup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11293374" y="7029611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1,492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7949204" y="7595005"/>
            <a:ext cx="38323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11293374" y="7595005"/>
            <a:ext cx="6698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(with early stopping)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4087250" y="378190"/>
            <a:ext cx="1791788" cy="1954338"/>
          </a:xfrm>
          <a:custGeom>
            <a:rect b="b" l="l" r="r" t="t"/>
            <a:pathLst>
              <a:path extrusionOk="0" h="3398849" w="3364860">
                <a:moveTo>
                  <a:pt x="0" y="0"/>
                </a:moveTo>
                <a:lnTo>
                  <a:pt x="3364860" y="0"/>
                </a:lnTo>
                <a:lnTo>
                  <a:pt x="3364860" y="3398848"/>
                </a:lnTo>
                <a:lnTo>
                  <a:pt x="0" y="3398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1"/>
          <p:cNvSpPr/>
          <p:nvPr/>
        </p:nvSpPr>
        <p:spPr>
          <a:xfrm>
            <a:off x="16196815" y="1075780"/>
            <a:ext cx="1798533" cy="1772908"/>
          </a:xfrm>
          <a:custGeom>
            <a:rect b="b" l="l" r="r" t="t"/>
            <a:pathLst>
              <a:path extrusionOk="0" h="2992249" w="3183244">
                <a:moveTo>
                  <a:pt x="0" y="0"/>
                </a:moveTo>
                <a:lnTo>
                  <a:pt x="3183243" y="0"/>
                </a:lnTo>
                <a:lnTo>
                  <a:pt x="3183243" y="2992249"/>
                </a:lnTo>
                <a:lnTo>
                  <a:pt x="0" y="299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/>
          <p:nvPr/>
        </p:nvSpPr>
        <p:spPr>
          <a:xfrm>
            <a:off x="992239" y="685653"/>
            <a:ext cx="16303526" cy="617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Hybrid Scoring &amp; Neural Reranker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992239" y="1366393"/>
            <a:ext cx="16303526" cy="30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Manual Hybrid Scoring Formula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288702" y="2088507"/>
            <a:ext cx="16007060" cy="568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Scoremanual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5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0.38 × Aspect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0.30 × Dense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0.15 × Sparse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0.10 × Category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0.05 × RevConf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0.04 × Rating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0.03 × PosRate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−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0.08 × PricePen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− </a:t>
            </a:r>
            <a:r>
              <a:rPr b="1" i="0" lang="en-US" sz="15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0.22 × NegAspectPen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992238" y="1911400"/>
            <a:ext cx="28576" cy="922436"/>
          </a:xfrm>
          <a:prstGeom prst="roundRect">
            <a:avLst>
              <a:gd fmla="val 49998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992239" y="3168403"/>
            <a:ext cx="7910662" cy="30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5B8B7"/>
                </a:solidFill>
                <a:latin typeface="Arial"/>
                <a:ea typeface="Arial"/>
                <a:cs typeface="Arial"/>
                <a:sym typeface="Arial"/>
              </a:rPr>
              <a:t>Signal Weight Breakdown</a:t>
            </a:r>
            <a:endParaRPr b="0" i="0" sz="1900" u="none" cap="none" strike="noStrike">
              <a:solidFill>
                <a:srgbClr val="E5B8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239" y="3654326"/>
            <a:ext cx="7910662" cy="569401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9394627" y="3168403"/>
            <a:ext cx="7910662" cy="30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5B8B7"/>
                </a:solidFill>
                <a:latin typeface="Arial"/>
                <a:ea typeface="Arial"/>
                <a:cs typeface="Arial"/>
                <a:sym typeface="Arial"/>
              </a:rPr>
              <a:t>Neural Reranker &amp; Final Blend</a:t>
            </a:r>
            <a:endParaRPr b="0" i="0" sz="1900" u="none" cap="none" strike="noStrike">
              <a:solidFill>
                <a:srgbClr val="E5B8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325" name="Google Shape;325;p12"/>
          <p:cNvSpPr/>
          <p:nvPr/>
        </p:nvSpPr>
        <p:spPr>
          <a:xfrm>
            <a:off x="9394627" y="3654327"/>
            <a:ext cx="7910662" cy="1771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9735146" y="3880545"/>
            <a:ext cx="7343924" cy="30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3-Layer MLP Reranker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9735146" y="4346825"/>
            <a:ext cx="7343924" cy="852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Trained with backpropagation on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hard negative samples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. Produces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Scorereranker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— a learned ranking signal that captures cross-feature interactions missed by the manual formula.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328" name="Google Shape;328;p12"/>
          <p:cNvSpPr/>
          <p:nvPr/>
        </p:nvSpPr>
        <p:spPr>
          <a:xfrm>
            <a:off x="9394627" y="5582840"/>
            <a:ext cx="7910662" cy="1912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9735146" y="5809061"/>
            <a:ext cx="7343924" cy="30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Blended Final Ranking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9735146" y="6275338"/>
            <a:ext cx="7343924" cy="994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Scorefinal = 0.70 × Scorereranker + 0.30 × Scoremanual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Neural signal dominates; manual weights serve as interpretable regularization.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331" name="Google Shape;331;p12"/>
          <p:cNvSpPr/>
          <p:nvPr/>
        </p:nvSpPr>
        <p:spPr>
          <a:xfrm>
            <a:off x="9394627" y="7653041"/>
            <a:ext cx="7910662" cy="1771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9735146" y="7879259"/>
            <a:ext cx="7343924" cy="30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Real-Time Query Features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9735146" y="8345539"/>
            <a:ext cx="7343924" cy="852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Budget parsing (</a:t>
            </a:r>
            <a:r>
              <a:rPr b="0" i="1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"under 1000 taka"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), category hard-constraint masking, and an </a:t>
            </a:r>
            <a:r>
              <a:rPr b="1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out-of-domain guard filter</a:t>
            </a:r>
            <a:r>
              <a:rPr b="0" i="0" lang="en-US" sz="15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 ensure robust handling of edge-case queries in production.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6031183" y="9495819"/>
            <a:ext cx="2166026" cy="714982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-2200969" y="1759001"/>
            <a:ext cx="16303526" cy="566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How the System Recommends Products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91939" y="7184194"/>
            <a:ext cx="697706" cy="104656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409970" y="7537364"/>
            <a:ext cx="261640" cy="340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981011" y="7374180"/>
            <a:ext cx="1507798" cy="28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Query Input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987851" y="7715102"/>
            <a:ext cx="2636206" cy="24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Multilingual preprocessing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497391" y="7213244"/>
            <a:ext cx="697706" cy="104656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715422" y="7566414"/>
            <a:ext cx="261640" cy="340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317731" y="7387670"/>
            <a:ext cx="1643782" cy="28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Dual Retrieval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5317732" y="7793674"/>
            <a:ext cx="2124684" cy="193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Dense + Sparse branches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704637" y="7257308"/>
            <a:ext cx="697706" cy="104656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7922668" y="7610478"/>
            <a:ext cx="261640" cy="340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8524977" y="7431734"/>
            <a:ext cx="2386906" cy="3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Query Understanding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8524978" y="7837739"/>
            <a:ext cx="2029284" cy="19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Aspect &amp; budget parsing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1181725" y="7257308"/>
            <a:ext cx="697706" cy="104656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1399756" y="7610476"/>
            <a:ext cx="261640" cy="340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2002066" y="7431734"/>
            <a:ext cx="1650468" cy="28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Feature Fusion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2002066" y="7837739"/>
            <a:ext cx="1417004" cy="19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9-signal scoring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4102557" y="7257308"/>
            <a:ext cx="697706" cy="104656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4320588" y="7610476"/>
            <a:ext cx="261640" cy="340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4922897" y="7431735"/>
            <a:ext cx="1906650" cy="19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Neural Reranking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4922897" y="7837739"/>
            <a:ext cx="1650470" cy="19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MLP score blending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1191939" y="8788970"/>
            <a:ext cx="697706" cy="104656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409970" y="9142138"/>
            <a:ext cx="261640" cy="340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2057043" y="8970317"/>
            <a:ext cx="1650470" cy="254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Ranked Output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2012279" y="9369399"/>
            <a:ext cx="1780170" cy="19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Arial"/>
                <a:ea typeface="Arial"/>
                <a:cs typeface="Arial"/>
                <a:sym typeface="Arial"/>
              </a:rPr>
              <a:t>Transparent evidence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5" name="Google Shape;3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764" y="2595269"/>
            <a:ext cx="8942784" cy="3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/>
          <p:nvPr/>
        </p:nvSpPr>
        <p:spPr>
          <a:xfrm>
            <a:off x="2249571" y="5715187"/>
            <a:ext cx="2028790" cy="26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Fusion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2249571" y="4822519"/>
            <a:ext cx="2031890" cy="26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Understanding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249571" y="3938869"/>
            <a:ext cx="2028790" cy="26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Dual Retrieval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249571" y="3046201"/>
            <a:ext cx="2028790" cy="26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Input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15693097" y="9601200"/>
            <a:ext cx="2539870" cy="635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4146824" y="1685723"/>
            <a:ext cx="1910242" cy="1484349"/>
          </a:xfrm>
          <a:custGeom>
            <a:rect b="b" l="l" r="r" t="t"/>
            <a:pathLst>
              <a:path extrusionOk="0" h="2983617" w="3638557">
                <a:moveTo>
                  <a:pt x="0" y="0"/>
                </a:moveTo>
                <a:lnTo>
                  <a:pt x="3638557" y="0"/>
                </a:lnTo>
                <a:lnTo>
                  <a:pt x="3638557" y="2983617"/>
                </a:lnTo>
                <a:lnTo>
                  <a:pt x="0" y="2983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13"/>
          <p:cNvSpPr/>
          <p:nvPr/>
        </p:nvSpPr>
        <p:spPr>
          <a:xfrm>
            <a:off x="15544800" y="123993"/>
            <a:ext cx="1577512" cy="1819108"/>
          </a:xfrm>
          <a:custGeom>
            <a:rect b="b" l="l" r="r" t="t"/>
            <a:pathLst>
              <a:path extrusionOk="0" h="2731273" w="2540084">
                <a:moveTo>
                  <a:pt x="0" y="0"/>
                </a:moveTo>
                <a:lnTo>
                  <a:pt x="2540084" y="0"/>
                </a:lnTo>
                <a:lnTo>
                  <a:pt x="2540084" y="2731273"/>
                </a:lnTo>
                <a:lnTo>
                  <a:pt x="0" y="273127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/>
          <p:nvPr/>
        </p:nvSpPr>
        <p:spPr>
          <a:xfrm>
            <a:off x="823617" y="2763288"/>
            <a:ext cx="8219503" cy="6348984"/>
          </a:xfrm>
          <a:custGeom>
            <a:rect b="b" l="l" r="r" t="t"/>
            <a:pathLst>
              <a:path extrusionOk="0" h="8465312" w="10959338">
                <a:moveTo>
                  <a:pt x="0" y="200533"/>
                </a:moveTo>
                <a:cubicBezTo>
                  <a:pt x="0" y="89789"/>
                  <a:pt x="89789" y="0"/>
                  <a:pt x="200533" y="0"/>
                </a:cubicBezTo>
                <a:lnTo>
                  <a:pt x="10758805" y="0"/>
                </a:lnTo>
                <a:cubicBezTo>
                  <a:pt x="10869549" y="0"/>
                  <a:pt x="10959338" y="89789"/>
                  <a:pt x="10959338" y="200533"/>
                </a:cubicBezTo>
                <a:lnTo>
                  <a:pt x="10959338" y="8264779"/>
                </a:lnTo>
                <a:cubicBezTo>
                  <a:pt x="10959338" y="8375523"/>
                  <a:pt x="10869549" y="8465312"/>
                  <a:pt x="10758805" y="8465312"/>
                </a:cubicBezTo>
                <a:lnTo>
                  <a:pt x="200533" y="8465312"/>
                </a:lnTo>
                <a:cubicBezTo>
                  <a:pt x="89789" y="8465312"/>
                  <a:pt x="0" y="8375523"/>
                  <a:pt x="0" y="8264779"/>
                </a:cubicBezTo>
                <a:close/>
              </a:path>
            </a:pathLst>
          </a:custGeom>
          <a:gradFill>
            <a:gsLst>
              <a:gs pos="0">
                <a:srgbClr val="9FC3FF"/>
              </a:gs>
              <a:gs pos="35000">
                <a:srgbClr val="BDD4FE"/>
              </a:gs>
              <a:gs pos="100000">
                <a:srgbClr val="E3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9254433" y="2763288"/>
            <a:ext cx="8219503" cy="6348984"/>
          </a:xfrm>
          <a:custGeom>
            <a:rect b="b" l="l" r="r" t="t"/>
            <a:pathLst>
              <a:path extrusionOk="0" h="8465312" w="10959338">
                <a:moveTo>
                  <a:pt x="0" y="200533"/>
                </a:moveTo>
                <a:cubicBezTo>
                  <a:pt x="0" y="89789"/>
                  <a:pt x="89789" y="0"/>
                  <a:pt x="200533" y="0"/>
                </a:cubicBezTo>
                <a:lnTo>
                  <a:pt x="10758805" y="0"/>
                </a:lnTo>
                <a:cubicBezTo>
                  <a:pt x="10869549" y="0"/>
                  <a:pt x="10959338" y="89789"/>
                  <a:pt x="10959338" y="200533"/>
                </a:cubicBezTo>
                <a:lnTo>
                  <a:pt x="10959338" y="8264779"/>
                </a:lnTo>
                <a:cubicBezTo>
                  <a:pt x="10959338" y="8375523"/>
                  <a:pt x="10869549" y="8465312"/>
                  <a:pt x="10758805" y="8465312"/>
                </a:cubicBezTo>
                <a:lnTo>
                  <a:pt x="200533" y="8465312"/>
                </a:lnTo>
                <a:cubicBezTo>
                  <a:pt x="89789" y="8465312"/>
                  <a:pt x="0" y="8375523"/>
                  <a:pt x="0" y="8264779"/>
                </a:cubicBezTo>
                <a:close/>
              </a:path>
            </a:pathLst>
          </a:custGeom>
          <a:gradFill>
            <a:gsLst>
              <a:gs pos="0">
                <a:srgbClr val="9FC3FF"/>
              </a:gs>
              <a:gs pos="35000">
                <a:srgbClr val="BDD4FE"/>
              </a:gs>
              <a:gs pos="100000">
                <a:srgbClr val="E3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9130436" w="18288000">
                <a:moveTo>
                  <a:pt x="0" y="0"/>
                </a:moveTo>
                <a:lnTo>
                  <a:pt x="18288000" y="0"/>
                </a:lnTo>
                <a:lnTo>
                  <a:pt x="18288000" y="9130436"/>
                </a:lnTo>
                <a:lnTo>
                  <a:pt x="0" y="9130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-84313" l="0" r="0" t="-61454"/>
            </a:stretch>
          </a:blipFill>
          <a:ln>
            <a:noFill/>
          </a:ln>
        </p:spPr>
      </p:sp>
      <p:sp>
        <p:nvSpPr>
          <p:cNvPr id="380" name="Google Shape;380;p14"/>
          <p:cNvSpPr/>
          <p:nvPr/>
        </p:nvSpPr>
        <p:spPr>
          <a:xfrm>
            <a:off x="1107977" y="2990774"/>
            <a:ext cx="2546509" cy="354806"/>
          </a:xfrm>
          <a:custGeom>
            <a:rect b="b" l="l" r="r" t="t"/>
            <a:pathLst>
              <a:path extrusionOk="0" h="473075" w="3395345">
                <a:moveTo>
                  <a:pt x="0" y="104648"/>
                </a:moveTo>
                <a:cubicBezTo>
                  <a:pt x="0" y="46863"/>
                  <a:pt x="46863" y="0"/>
                  <a:pt x="104648" y="0"/>
                </a:cubicBezTo>
                <a:lnTo>
                  <a:pt x="3290697" y="0"/>
                </a:lnTo>
                <a:cubicBezTo>
                  <a:pt x="3348482" y="0"/>
                  <a:pt x="3395345" y="46863"/>
                  <a:pt x="3395345" y="104648"/>
                </a:cubicBezTo>
                <a:lnTo>
                  <a:pt x="3395345" y="368427"/>
                </a:lnTo>
                <a:cubicBezTo>
                  <a:pt x="3395345" y="426212"/>
                  <a:pt x="3348482" y="473075"/>
                  <a:pt x="3290697" y="473075"/>
                </a:cubicBezTo>
                <a:lnTo>
                  <a:pt x="104648" y="473075"/>
                </a:lnTo>
                <a:cubicBezTo>
                  <a:pt x="46863" y="473075"/>
                  <a:pt x="0" y="426212"/>
                  <a:pt x="0" y="368427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049236" y="3970287"/>
            <a:ext cx="7768305" cy="4211288"/>
          </a:xfrm>
          <a:custGeom>
            <a:rect b="b" l="l" r="r" t="t"/>
            <a:pathLst>
              <a:path extrusionOk="0" h="5615051" w="10357739">
                <a:moveTo>
                  <a:pt x="0" y="124079"/>
                </a:moveTo>
                <a:cubicBezTo>
                  <a:pt x="0" y="55499"/>
                  <a:pt x="55499" y="0"/>
                  <a:pt x="124079" y="0"/>
                </a:cubicBezTo>
                <a:lnTo>
                  <a:pt x="10233660" y="0"/>
                </a:lnTo>
                <a:cubicBezTo>
                  <a:pt x="10302113" y="0"/>
                  <a:pt x="10357739" y="55499"/>
                  <a:pt x="10357739" y="124079"/>
                </a:cubicBezTo>
                <a:lnTo>
                  <a:pt x="10357739" y="5490972"/>
                </a:lnTo>
                <a:cubicBezTo>
                  <a:pt x="10357739" y="5559425"/>
                  <a:pt x="10302240" y="5615051"/>
                  <a:pt x="10233660" y="5615051"/>
                </a:cubicBezTo>
                <a:lnTo>
                  <a:pt x="124079" y="5615051"/>
                </a:lnTo>
                <a:cubicBezTo>
                  <a:pt x="55626" y="5615051"/>
                  <a:pt x="0" y="5559552"/>
                  <a:pt x="0" y="5490972"/>
                </a:cubicBez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1" l="-19554" r="-19553" t="0"/>
            </a:stretch>
          </a:blipFill>
          <a:ln cap="sq" cmpd="sng" w="9525">
            <a:solidFill>
              <a:srgbClr val="FFF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053998" y="4578696"/>
            <a:ext cx="7758684" cy="13811"/>
          </a:xfrm>
          <a:custGeom>
            <a:rect b="b" l="l" r="r" t="t"/>
            <a:pathLst>
              <a:path extrusionOk="0" h="18415" w="10344912">
                <a:moveTo>
                  <a:pt x="0" y="0"/>
                </a:moveTo>
                <a:lnTo>
                  <a:pt x="10344912" y="0"/>
                </a:lnTo>
                <a:lnTo>
                  <a:pt x="10344912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383" name="Google Shape;383;p14"/>
          <p:cNvSpPr/>
          <p:nvPr/>
        </p:nvSpPr>
        <p:spPr>
          <a:xfrm>
            <a:off x="1053998" y="5177580"/>
            <a:ext cx="7758684" cy="13811"/>
          </a:xfrm>
          <a:custGeom>
            <a:rect b="b" l="l" r="r" t="t"/>
            <a:pathLst>
              <a:path extrusionOk="0" h="18415" w="10344912">
                <a:moveTo>
                  <a:pt x="0" y="0"/>
                </a:moveTo>
                <a:lnTo>
                  <a:pt x="10344912" y="0"/>
                </a:lnTo>
                <a:lnTo>
                  <a:pt x="10344912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384" name="Google Shape;384;p14"/>
          <p:cNvSpPr/>
          <p:nvPr/>
        </p:nvSpPr>
        <p:spPr>
          <a:xfrm>
            <a:off x="1053998" y="5776465"/>
            <a:ext cx="7758684" cy="13811"/>
          </a:xfrm>
          <a:custGeom>
            <a:rect b="b" l="l" r="r" t="t"/>
            <a:pathLst>
              <a:path extrusionOk="0" h="18415" w="10344912">
                <a:moveTo>
                  <a:pt x="0" y="0"/>
                </a:moveTo>
                <a:lnTo>
                  <a:pt x="10344912" y="0"/>
                </a:lnTo>
                <a:lnTo>
                  <a:pt x="10344912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385" name="Google Shape;385;p14"/>
          <p:cNvSpPr/>
          <p:nvPr/>
        </p:nvSpPr>
        <p:spPr>
          <a:xfrm>
            <a:off x="1053998" y="6375349"/>
            <a:ext cx="7758684" cy="13811"/>
          </a:xfrm>
          <a:custGeom>
            <a:rect b="b" l="l" r="r" t="t"/>
            <a:pathLst>
              <a:path extrusionOk="0" h="18415" w="10344912">
                <a:moveTo>
                  <a:pt x="0" y="0"/>
                </a:moveTo>
                <a:lnTo>
                  <a:pt x="10344912" y="0"/>
                </a:lnTo>
                <a:lnTo>
                  <a:pt x="10344912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386" name="Google Shape;386;p14"/>
          <p:cNvSpPr/>
          <p:nvPr/>
        </p:nvSpPr>
        <p:spPr>
          <a:xfrm>
            <a:off x="1053998" y="6974234"/>
            <a:ext cx="7758684" cy="13811"/>
          </a:xfrm>
          <a:custGeom>
            <a:rect b="b" l="l" r="r" t="t"/>
            <a:pathLst>
              <a:path extrusionOk="0" h="18415" w="10344912">
                <a:moveTo>
                  <a:pt x="0" y="0"/>
                </a:moveTo>
                <a:lnTo>
                  <a:pt x="10344912" y="0"/>
                </a:lnTo>
                <a:lnTo>
                  <a:pt x="10344912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387" name="Google Shape;387;p14"/>
          <p:cNvSpPr/>
          <p:nvPr/>
        </p:nvSpPr>
        <p:spPr>
          <a:xfrm>
            <a:off x="1053998" y="7573118"/>
            <a:ext cx="7758684" cy="13811"/>
          </a:xfrm>
          <a:custGeom>
            <a:rect b="b" l="l" r="r" t="t"/>
            <a:pathLst>
              <a:path extrusionOk="0" h="18415" w="10344912">
                <a:moveTo>
                  <a:pt x="0" y="0"/>
                </a:moveTo>
                <a:lnTo>
                  <a:pt x="10344912" y="0"/>
                </a:lnTo>
                <a:lnTo>
                  <a:pt x="10344912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</p:sp>
      <p:sp>
        <p:nvSpPr>
          <p:cNvPr id="388" name="Google Shape;388;p14"/>
          <p:cNvSpPr txBox="1"/>
          <p:nvPr/>
        </p:nvSpPr>
        <p:spPr>
          <a:xfrm>
            <a:off x="1284389" y="4045448"/>
            <a:ext cx="4342505" cy="425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5154216" y="4045448"/>
            <a:ext cx="4342505" cy="425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1284389" y="4663383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Suitable@1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5154216" y="4663383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91.24%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1284389" y="5262267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Suitable@3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5154216" y="5262267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93.19%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1284389" y="5861152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NDCG_suit@10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5154216" y="5861152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0.9751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 txBox="1"/>
          <p:nvPr/>
        </p:nvSpPr>
        <p:spPr>
          <a:xfrm>
            <a:off x="1284389" y="6460036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Hit@10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5154216" y="6460036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44.96%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1284389" y="7058920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AspectSat@1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5154216" y="7058920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79.80%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1284389" y="7657805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NegAvoid@1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5154216" y="7657805"/>
            <a:ext cx="4342505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99.27%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9413529" y="2984602"/>
            <a:ext cx="2629280" cy="354806"/>
          </a:xfrm>
          <a:custGeom>
            <a:rect b="b" l="l" r="r" t="t"/>
            <a:pathLst>
              <a:path extrusionOk="0" h="473075" w="3505708">
                <a:moveTo>
                  <a:pt x="0" y="104648"/>
                </a:moveTo>
                <a:cubicBezTo>
                  <a:pt x="0" y="46863"/>
                  <a:pt x="46863" y="0"/>
                  <a:pt x="104648" y="0"/>
                </a:cubicBezTo>
                <a:lnTo>
                  <a:pt x="3401060" y="0"/>
                </a:lnTo>
                <a:cubicBezTo>
                  <a:pt x="3458845" y="0"/>
                  <a:pt x="3505708" y="46863"/>
                  <a:pt x="3505708" y="104648"/>
                </a:cubicBezTo>
                <a:lnTo>
                  <a:pt x="3505708" y="368427"/>
                </a:lnTo>
                <a:cubicBezTo>
                  <a:pt x="3505708" y="426212"/>
                  <a:pt x="3458845" y="473075"/>
                  <a:pt x="3401060" y="473075"/>
                </a:cubicBezTo>
                <a:lnTo>
                  <a:pt x="104648" y="473075"/>
                </a:lnTo>
                <a:cubicBezTo>
                  <a:pt x="46863" y="473075"/>
                  <a:pt x="0" y="426212"/>
                  <a:pt x="0" y="368427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9555509" y="3060354"/>
            <a:ext cx="3105598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ASPECT-FOCUSED 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4"/>
          <p:cNvSpPr txBox="1"/>
          <p:nvPr/>
        </p:nvSpPr>
        <p:spPr>
          <a:xfrm>
            <a:off x="9423054" y="3398939"/>
            <a:ext cx="7882233" cy="31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908 Test 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9418291" y="3970287"/>
            <a:ext cx="7891748" cy="3612356"/>
          </a:xfrm>
          <a:custGeom>
            <a:rect b="b" l="l" r="r" t="t"/>
            <a:pathLst>
              <a:path extrusionOk="0" h="4816475" w="10522331">
                <a:moveTo>
                  <a:pt x="0" y="124079"/>
                </a:moveTo>
                <a:cubicBezTo>
                  <a:pt x="0" y="55499"/>
                  <a:pt x="55499" y="0"/>
                  <a:pt x="124079" y="0"/>
                </a:cubicBezTo>
                <a:lnTo>
                  <a:pt x="10398252" y="0"/>
                </a:lnTo>
                <a:cubicBezTo>
                  <a:pt x="10466832" y="0"/>
                  <a:pt x="10522331" y="55499"/>
                  <a:pt x="10522331" y="124079"/>
                </a:cubicBezTo>
                <a:lnTo>
                  <a:pt x="10522331" y="4692396"/>
                </a:lnTo>
                <a:cubicBezTo>
                  <a:pt x="10522331" y="4760976"/>
                  <a:pt x="10466832" y="4816475"/>
                  <a:pt x="10398252" y="4816475"/>
                </a:cubicBezTo>
                <a:lnTo>
                  <a:pt x="124079" y="4816475"/>
                </a:lnTo>
                <a:cubicBezTo>
                  <a:pt x="55499" y="4816475"/>
                  <a:pt x="0" y="4760976"/>
                  <a:pt x="0" y="4692396"/>
                </a:cubicBez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0" l="-8730" r="-8730" t="0"/>
            </a:stretch>
          </a:blipFill>
          <a:ln cap="sq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9423054" y="4578696"/>
            <a:ext cx="7882223" cy="13811"/>
          </a:xfrm>
          <a:custGeom>
            <a:rect b="b" l="l" r="r" t="t"/>
            <a:pathLst>
              <a:path extrusionOk="0" h="18415" w="10509631">
                <a:moveTo>
                  <a:pt x="0" y="0"/>
                </a:moveTo>
                <a:lnTo>
                  <a:pt x="10509631" y="0"/>
                </a:lnTo>
                <a:lnTo>
                  <a:pt x="10509631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</p:sp>
      <p:sp>
        <p:nvSpPr>
          <p:cNvPr id="407" name="Google Shape;407;p14"/>
          <p:cNvSpPr/>
          <p:nvPr/>
        </p:nvSpPr>
        <p:spPr>
          <a:xfrm>
            <a:off x="9423054" y="5177580"/>
            <a:ext cx="7882223" cy="13811"/>
          </a:xfrm>
          <a:custGeom>
            <a:rect b="b" l="l" r="r" t="t"/>
            <a:pathLst>
              <a:path extrusionOk="0" h="18415" w="10509631">
                <a:moveTo>
                  <a:pt x="0" y="0"/>
                </a:moveTo>
                <a:lnTo>
                  <a:pt x="10509631" y="0"/>
                </a:lnTo>
                <a:lnTo>
                  <a:pt x="10509631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</p:sp>
      <p:sp>
        <p:nvSpPr>
          <p:cNvPr id="408" name="Google Shape;408;p14"/>
          <p:cNvSpPr/>
          <p:nvPr/>
        </p:nvSpPr>
        <p:spPr>
          <a:xfrm>
            <a:off x="9423054" y="5776465"/>
            <a:ext cx="7882223" cy="13811"/>
          </a:xfrm>
          <a:custGeom>
            <a:rect b="b" l="l" r="r" t="t"/>
            <a:pathLst>
              <a:path extrusionOk="0" h="18415" w="10509631">
                <a:moveTo>
                  <a:pt x="0" y="0"/>
                </a:moveTo>
                <a:lnTo>
                  <a:pt x="10509631" y="0"/>
                </a:lnTo>
                <a:lnTo>
                  <a:pt x="10509631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</p:sp>
      <p:sp>
        <p:nvSpPr>
          <p:cNvPr id="409" name="Google Shape;409;p14"/>
          <p:cNvSpPr/>
          <p:nvPr/>
        </p:nvSpPr>
        <p:spPr>
          <a:xfrm>
            <a:off x="9423054" y="6375349"/>
            <a:ext cx="7882223" cy="13811"/>
          </a:xfrm>
          <a:custGeom>
            <a:rect b="b" l="l" r="r" t="t"/>
            <a:pathLst>
              <a:path extrusionOk="0" h="18415" w="10509631">
                <a:moveTo>
                  <a:pt x="0" y="0"/>
                </a:moveTo>
                <a:lnTo>
                  <a:pt x="10509631" y="0"/>
                </a:lnTo>
                <a:lnTo>
                  <a:pt x="10509631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</p:sp>
      <p:sp>
        <p:nvSpPr>
          <p:cNvPr id="410" name="Google Shape;410;p14"/>
          <p:cNvSpPr/>
          <p:nvPr/>
        </p:nvSpPr>
        <p:spPr>
          <a:xfrm>
            <a:off x="9423054" y="6974234"/>
            <a:ext cx="7882223" cy="13811"/>
          </a:xfrm>
          <a:custGeom>
            <a:rect b="b" l="l" r="r" t="t"/>
            <a:pathLst>
              <a:path extrusionOk="0" h="18415" w="10509631">
                <a:moveTo>
                  <a:pt x="0" y="0"/>
                </a:moveTo>
                <a:lnTo>
                  <a:pt x="10509631" y="0"/>
                </a:lnTo>
                <a:lnTo>
                  <a:pt x="10509631" y="18415"/>
                </a:lnTo>
                <a:lnTo>
                  <a:pt x="0" y="18415"/>
                </a:ln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</p:sp>
      <p:sp>
        <p:nvSpPr>
          <p:cNvPr id="411" name="Google Shape;411;p14"/>
          <p:cNvSpPr txBox="1"/>
          <p:nvPr/>
        </p:nvSpPr>
        <p:spPr>
          <a:xfrm>
            <a:off x="9653435" y="4045448"/>
            <a:ext cx="4404274" cy="425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 txBox="1"/>
          <p:nvPr/>
        </p:nvSpPr>
        <p:spPr>
          <a:xfrm>
            <a:off x="13585031" y="4045448"/>
            <a:ext cx="4404274" cy="425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 txBox="1"/>
          <p:nvPr/>
        </p:nvSpPr>
        <p:spPr>
          <a:xfrm>
            <a:off x="9653435" y="4663383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Hit@10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 txBox="1"/>
          <p:nvPr/>
        </p:nvSpPr>
        <p:spPr>
          <a:xfrm>
            <a:off x="13585031" y="4663383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61.34%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 txBox="1"/>
          <p:nvPr/>
        </p:nvSpPr>
        <p:spPr>
          <a:xfrm>
            <a:off x="9653435" y="5262267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AspectSat@1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 txBox="1"/>
          <p:nvPr/>
        </p:nvSpPr>
        <p:spPr>
          <a:xfrm>
            <a:off x="13585031" y="5262267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82.34%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 txBox="1"/>
          <p:nvPr/>
        </p:nvSpPr>
        <p:spPr>
          <a:xfrm>
            <a:off x="9653435" y="5861152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NegAvoid@1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13585031" y="5861152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98.90%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 txBox="1"/>
          <p:nvPr/>
        </p:nvSpPr>
        <p:spPr>
          <a:xfrm>
            <a:off x="9653435" y="6460036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Suitable@1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13585031" y="6460036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53.85%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9653435" y="7058920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NDCG_suit@10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13585031" y="7058920"/>
            <a:ext cx="4404274" cy="30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0.9573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9418291" y="3960762"/>
            <a:ext cx="7768305" cy="4211288"/>
          </a:xfrm>
          <a:custGeom>
            <a:rect b="b" l="l" r="r" t="t"/>
            <a:pathLst>
              <a:path extrusionOk="0" h="5615051" w="10357739">
                <a:moveTo>
                  <a:pt x="0" y="124079"/>
                </a:moveTo>
                <a:cubicBezTo>
                  <a:pt x="0" y="55499"/>
                  <a:pt x="55499" y="0"/>
                  <a:pt x="124079" y="0"/>
                </a:cubicBezTo>
                <a:lnTo>
                  <a:pt x="10233660" y="0"/>
                </a:lnTo>
                <a:cubicBezTo>
                  <a:pt x="10302113" y="0"/>
                  <a:pt x="10357739" y="55499"/>
                  <a:pt x="10357739" y="124079"/>
                </a:cubicBezTo>
                <a:lnTo>
                  <a:pt x="10357739" y="5490972"/>
                </a:lnTo>
                <a:cubicBezTo>
                  <a:pt x="10357739" y="5559425"/>
                  <a:pt x="10302240" y="5615051"/>
                  <a:pt x="10233660" y="5615051"/>
                </a:cubicBezTo>
                <a:lnTo>
                  <a:pt x="124079" y="5615051"/>
                </a:lnTo>
                <a:cubicBezTo>
                  <a:pt x="55626" y="5615051"/>
                  <a:pt x="0" y="5559552"/>
                  <a:pt x="0" y="5490972"/>
                </a:cubicBez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1" l="-19554" r="-19553" t="0"/>
            </a:stretch>
          </a:blipFill>
          <a:ln cap="sq" cmpd="sng" w="9525">
            <a:solidFill>
              <a:srgbClr val="FFF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881805" y="1137514"/>
            <a:ext cx="4219773" cy="669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 txBox="1"/>
          <p:nvPr/>
        </p:nvSpPr>
        <p:spPr>
          <a:xfrm>
            <a:off x="1186463" y="3060354"/>
            <a:ext cx="3098606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REVIEW 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 txBox="1"/>
          <p:nvPr/>
        </p:nvSpPr>
        <p:spPr>
          <a:xfrm>
            <a:off x="1053998" y="3398939"/>
            <a:ext cx="7758713" cy="31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1,130 Test 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 rot="-2298785">
            <a:off x="15415267" y="628869"/>
            <a:ext cx="1643075" cy="1438187"/>
          </a:xfrm>
          <a:custGeom>
            <a:rect b="b" l="l" r="r" t="t"/>
            <a:pathLst>
              <a:path extrusionOk="0" h="2992249" w="3183244">
                <a:moveTo>
                  <a:pt x="0" y="0"/>
                </a:moveTo>
                <a:lnTo>
                  <a:pt x="3183243" y="0"/>
                </a:lnTo>
                <a:lnTo>
                  <a:pt x="3183243" y="2992249"/>
                </a:lnTo>
                <a:lnTo>
                  <a:pt x="0" y="299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14"/>
          <p:cNvSpPr/>
          <p:nvPr/>
        </p:nvSpPr>
        <p:spPr>
          <a:xfrm rot="-875382">
            <a:off x="15322418" y="527510"/>
            <a:ext cx="1944859" cy="1640907"/>
          </a:xfrm>
          <a:custGeom>
            <a:rect b="b" l="l" r="r" t="t"/>
            <a:pathLst>
              <a:path extrusionOk="0" h="2492265" w="2848303">
                <a:moveTo>
                  <a:pt x="0" y="0"/>
                </a:moveTo>
                <a:lnTo>
                  <a:pt x="2848303" y="0"/>
                </a:lnTo>
                <a:lnTo>
                  <a:pt x="2848303" y="2492265"/>
                </a:lnTo>
                <a:lnTo>
                  <a:pt x="0" y="24922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/>
          <p:nvPr/>
        </p:nvSpPr>
        <p:spPr>
          <a:xfrm>
            <a:off x="6442942" y="811279"/>
            <a:ext cx="5402116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Website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t/>
            </a:r>
            <a:endParaRPr b="0" i="0" sz="4300" u="none" cap="none" strike="noStrike">
              <a:solidFill>
                <a:srgbClr val="FFF8F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5693097" y="9601200"/>
            <a:ext cx="2539870" cy="635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804"/>
            <a:ext cx="18288000" cy="840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"/>
          <p:cNvSpPr/>
          <p:nvPr/>
        </p:nvSpPr>
        <p:spPr>
          <a:xfrm>
            <a:off x="15693097" y="9601200"/>
            <a:ext cx="2539870" cy="635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"/>
          <p:cNvSpPr/>
          <p:nvPr/>
        </p:nvSpPr>
        <p:spPr>
          <a:xfrm>
            <a:off x="15693097" y="9601200"/>
            <a:ext cx="2539870" cy="635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"/>
          <p:cNvSpPr/>
          <p:nvPr/>
        </p:nvSpPr>
        <p:spPr>
          <a:xfrm>
            <a:off x="15693097" y="9601200"/>
            <a:ext cx="2539870" cy="635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1404321" y="4505757"/>
            <a:ext cx="4439590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Activity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18"/>
          <p:cNvPicPr preferRelativeResize="0"/>
          <p:nvPr/>
        </p:nvPicPr>
        <p:blipFill rotWithShape="1">
          <a:blip r:embed="rId3">
            <a:alphaModFix/>
          </a:blip>
          <a:srcRect b="12481" l="15763" r="17520" t="4079"/>
          <a:stretch/>
        </p:blipFill>
        <p:spPr>
          <a:xfrm>
            <a:off x="8747760" y="0"/>
            <a:ext cx="9540240" cy="102870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9"/>
          <p:cNvSpPr/>
          <p:nvPr/>
        </p:nvSpPr>
        <p:spPr>
          <a:xfrm>
            <a:off x="15693097" y="9601200"/>
            <a:ext cx="2539870" cy="6350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651" y="0"/>
            <a:ext cx="12325350" cy="10305812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  <p:sp>
        <p:nvSpPr>
          <p:cNvPr id="466" name="Google Shape;466;p19"/>
          <p:cNvSpPr/>
          <p:nvPr/>
        </p:nvSpPr>
        <p:spPr>
          <a:xfrm>
            <a:off x="1384050" y="4213150"/>
            <a:ext cx="27933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Sequence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0"/>
          <p:cNvSpPr/>
          <p:nvPr/>
        </p:nvSpPr>
        <p:spPr>
          <a:xfrm>
            <a:off x="973188" y="4128935"/>
            <a:ext cx="5283613" cy="4005358"/>
          </a:xfrm>
          <a:custGeom>
            <a:rect b="b" l="l" r="r" t="t"/>
            <a:pathLst>
              <a:path extrusionOk="0" h="4005358" w="5283613">
                <a:moveTo>
                  <a:pt x="0" y="0"/>
                </a:moveTo>
                <a:lnTo>
                  <a:pt x="5283613" y="0"/>
                </a:lnTo>
                <a:lnTo>
                  <a:pt x="5283613" y="4005358"/>
                </a:lnTo>
                <a:lnTo>
                  <a:pt x="0" y="40053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20"/>
          <p:cNvSpPr/>
          <p:nvPr/>
        </p:nvSpPr>
        <p:spPr>
          <a:xfrm>
            <a:off x="954138" y="4147985"/>
            <a:ext cx="152400" cy="3967353"/>
          </a:xfrm>
          <a:custGeom>
            <a:rect b="b" l="l" r="r" t="t"/>
            <a:pathLst>
              <a:path extrusionOk="0" h="5289804" w="203200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146558" y="0"/>
                </a:lnTo>
                <a:cubicBezTo>
                  <a:pt x="177800" y="0"/>
                  <a:pt x="203200" y="25400"/>
                  <a:pt x="203200" y="56769"/>
                </a:cubicBezTo>
                <a:lnTo>
                  <a:pt x="203200" y="5233035"/>
                </a:lnTo>
                <a:cubicBezTo>
                  <a:pt x="203200" y="5264404"/>
                  <a:pt x="177800" y="5289804"/>
                  <a:pt x="146431" y="5289804"/>
                </a:cubicBezTo>
                <a:lnTo>
                  <a:pt x="56769" y="5289804"/>
                </a:lnTo>
                <a:cubicBezTo>
                  <a:pt x="25400" y="5289804"/>
                  <a:pt x="0" y="5264404"/>
                  <a:pt x="0" y="5233035"/>
                </a:cubicBezTo>
                <a:close/>
              </a:path>
            </a:pathLst>
          </a:cu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6502156" y="4128935"/>
            <a:ext cx="5283613" cy="4005358"/>
          </a:xfrm>
          <a:custGeom>
            <a:rect b="b" l="l" r="r" t="t"/>
            <a:pathLst>
              <a:path extrusionOk="0" h="4005358" w="5283613">
                <a:moveTo>
                  <a:pt x="0" y="0"/>
                </a:moveTo>
                <a:lnTo>
                  <a:pt x="5283612" y="0"/>
                </a:lnTo>
                <a:lnTo>
                  <a:pt x="5283612" y="4005358"/>
                </a:lnTo>
                <a:lnTo>
                  <a:pt x="0" y="40053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0"/>
          <p:cNvSpPr/>
          <p:nvPr/>
        </p:nvSpPr>
        <p:spPr>
          <a:xfrm>
            <a:off x="6483106" y="4147985"/>
            <a:ext cx="152400" cy="3967353"/>
          </a:xfrm>
          <a:custGeom>
            <a:rect b="b" l="l" r="r" t="t"/>
            <a:pathLst>
              <a:path extrusionOk="0" h="5289804" w="203200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146558" y="0"/>
                </a:lnTo>
                <a:cubicBezTo>
                  <a:pt x="177800" y="0"/>
                  <a:pt x="203200" y="25400"/>
                  <a:pt x="203200" y="56769"/>
                </a:cubicBezTo>
                <a:lnTo>
                  <a:pt x="203200" y="5233035"/>
                </a:lnTo>
                <a:cubicBezTo>
                  <a:pt x="203200" y="5264404"/>
                  <a:pt x="177800" y="5289804"/>
                  <a:pt x="146431" y="5289804"/>
                </a:cubicBezTo>
                <a:lnTo>
                  <a:pt x="56769" y="5289804"/>
                </a:lnTo>
                <a:cubicBezTo>
                  <a:pt x="25400" y="5289804"/>
                  <a:pt x="0" y="5264404"/>
                  <a:pt x="0" y="5233035"/>
                </a:cubicBezTo>
                <a:close/>
              </a:path>
            </a:pathLst>
          </a:cu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2031113" y="4128935"/>
            <a:ext cx="5283613" cy="4005358"/>
          </a:xfrm>
          <a:custGeom>
            <a:rect b="b" l="l" r="r" t="t"/>
            <a:pathLst>
              <a:path extrusionOk="0" h="4005358" w="5283613">
                <a:moveTo>
                  <a:pt x="0" y="0"/>
                </a:moveTo>
                <a:lnTo>
                  <a:pt x="5283613" y="0"/>
                </a:lnTo>
                <a:lnTo>
                  <a:pt x="5283613" y="4005358"/>
                </a:lnTo>
                <a:lnTo>
                  <a:pt x="0" y="40053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0"/>
          <p:cNvSpPr/>
          <p:nvPr/>
        </p:nvSpPr>
        <p:spPr>
          <a:xfrm>
            <a:off x="12012063" y="4147985"/>
            <a:ext cx="152400" cy="3967353"/>
          </a:xfrm>
          <a:custGeom>
            <a:rect b="b" l="l" r="r" t="t"/>
            <a:pathLst>
              <a:path extrusionOk="0" h="5289804" w="203200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146558" y="0"/>
                </a:lnTo>
                <a:cubicBezTo>
                  <a:pt x="177800" y="0"/>
                  <a:pt x="203200" y="25400"/>
                  <a:pt x="203200" y="56769"/>
                </a:cubicBezTo>
                <a:lnTo>
                  <a:pt x="203200" y="5233035"/>
                </a:lnTo>
                <a:cubicBezTo>
                  <a:pt x="203200" y="5264404"/>
                  <a:pt x="177800" y="5289804"/>
                  <a:pt x="146431" y="5289804"/>
                </a:cubicBezTo>
                <a:lnTo>
                  <a:pt x="56769" y="5289804"/>
                </a:lnTo>
                <a:cubicBezTo>
                  <a:pt x="25400" y="5289804"/>
                  <a:pt x="0" y="5264404"/>
                  <a:pt x="0" y="5233035"/>
                </a:cubicBezTo>
                <a:close/>
              </a:path>
            </a:pathLst>
          </a:cu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4000"/>
            </a:blip>
            <a:stretch>
              <a:fillRect b="-3232" l="-3863" r="-763" t="0"/>
            </a:stretch>
          </a:blipFill>
          <a:ln>
            <a:noFill/>
          </a:ln>
        </p:spPr>
      </p:sp>
      <p:sp>
        <p:nvSpPr>
          <p:cNvPr id="478" name="Google Shape;478;p20"/>
          <p:cNvSpPr txBox="1"/>
          <p:nvPr/>
        </p:nvSpPr>
        <p:spPr>
          <a:xfrm>
            <a:off x="992238" y="2655837"/>
            <a:ext cx="7088238" cy="98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62"/>
              <a:buFont typeface="Arial"/>
              <a:buNone/>
            </a:pPr>
            <a:r>
              <a:rPr b="1" i="0" lang="en-US" sz="5562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0"/>
          <p:cNvSpPr txBox="1"/>
          <p:nvPr/>
        </p:nvSpPr>
        <p:spPr>
          <a:xfrm>
            <a:off x="1428159" y="4364831"/>
            <a:ext cx="4487913" cy="1011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Out-of-Domain Query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 txBox="1"/>
          <p:nvPr/>
        </p:nvSpPr>
        <p:spPr>
          <a:xfrm>
            <a:off x="1447605" y="5475792"/>
            <a:ext cx="4826346" cy="2691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Web Application lacks a rejection mechanism for unsupported queries and may return lexically similar but semantically incorrect products.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 txBox="1"/>
          <p:nvPr/>
        </p:nvSpPr>
        <p:spPr>
          <a:xfrm>
            <a:off x="6957117" y="4364831"/>
            <a:ext cx="4487913" cy="4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Data Collection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0"/>
          <p:cNvSpPr txBox="1"/>
          <p:nvPr/>
        </p:nvSpPr>
        <p:spPr>
          <a:xfrm>
            <a:off x="6993511" y="5086116"/>
            <a:ext cx="4487913" cy="214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Reviews were collected manually, limiting scalability and making rapid dataset expansion difficult.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12486084" y="4364831"/>
            <a:ext cx="4487913" cy="1011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Category Coverage &amp;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12518384" y="5475792"/>
            <a:ext cx="4487913" cy="2691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5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framework operates within a fixed set of product categories and does not yet support direct marketplace redirection.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12833599" y="222393"/>
            <a:ext cx="2009073" cy="2310103"/>
          </a:xfrm>
          <a:custGeom>
            <a:rect b="b" l="l" r="r" t="t"/>
            <a:pathLst>
              <a:path extrusionOk="0" h="2731273" w="2540084">
                <a:moveTo>
                  <a:pt x="0" y="0"/>
                </a:moveTo>
                <a:lnTo>
                  <a:pt x="2540084" y="0"/>
                </a:lnTo>
                <a:lnTo>
                  <a:pt x="2540084" y="2731273"/>
                </a:lnTo>
                <a:lnTo>
                  <a:pt x="0" y="273127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20"/>
          <p:cNvSpPr/>
          <p:nvPr/>
        </p:nvSpPr>
        <p:spPr>
          <a:xfrm>
            <a:off x="14842672" y="1165529"/>
            <a:ext cx="2133600" cy="1834060"/>
          </a:xfrm>
          <a:custGeom>
            <a:rect b="b" l="l" r="r" t="t"/>
            <a:pathLst>
              <a:path extrusionOk="0" h="2310102" w="3059738">
                <a:moveTo>
                  <a:pt x="0" y="0"/>
                </a:moveTo>
                <a:lnTo>
                  <a:pt x="3059738" y="0"/>
                </a:lnTo>
                <a:lnTo>
                  <a:pt x="3059738" y="2310103"/>
                </a:lnTo>
                <a:lnTo>
                  <a:pt x="0" y="23101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9111" l="0" r="0" t="-9111"/>
            </a:stretch>
          </a:blipFill>
          <a:ln>
            <a:noFill/>
          </a:ln>
        </p:spPr>
      </p:sp>
      <p:sp>
        <p:nvSpPr>
          <p:cNvPr descr="preencoded.png" id="492" name="Google Shape;492;p21"/>
          <p:cNvSpPr/>
          <p:nvPr/>
        </p:nvSpPr>
        <p:spPr>
          <a:xfrm>
            <a:off x="1654673" y="2095795"/>
            <a:ext cx="1085374" cy="1302353"/>
          </a:xfrm>
          <a:custGeom>
            <a:rect b="b" l="l" r="r" t="t"/>
            <a:pathLst>
              <a:path extrusionOk="0" h="1736471" w="1447165">
                <a:moveTo>
                  <a:pt x="0" y="0"/>
                </a:moveTo>
                <a:lnTo>
                  <a:pt x="1447165" y="0"/>
                </a:lnTo>
                <a:lnTo>
                  <a:pt x="1447165" y="1736471"/>
                </a:lnTo>
                <a:lnTo>
                  <a:pt x="0" y="173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5" l="0" r="0" t="-186"/>
            </a:stretch>
          </a:blipFill>
          <a:ln>
            <a:noFill/>
          </a:ln>
        </p:spPr>
      </p:sp>
      <p:sp>
        <p:nvSpPr>
          <p:cNvPr descr="preencoded.png" id="493" name="Google Shape;493;p21"/>
          <p:cNvSpPr/>
          <p:nvPr/>
        </p:nvSpPr>
        <p:spPr>
          <a:xfrm>
            <a:off x="1654673" y="3398196"/>
            <a:ext cx="1085374" cy="1302353"/>
          </a:xfrm>
          <a:custGeom>
            <a:rect b="b" l="l" r="r" t="t"/>
            <a:pathLst>
              <a:path extrusionOk="0" h="1736471" w="1447165">
                <a:moveTo>
                  <a:pt x="0" y="0"/>
                </a:moveTo>
                <a:lnTo>
                  <a:pt x="1447165" y="0"/>
                </a:lnTo>
                <a:lnTo>
                  <a:pt x="1447165" y="1736471"/>
                </a:lnTo>
                <a:lnTo>
                  <a:pt x="0" y="173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5" l="0" r="0" t="-186"/>
            </a:stretch>
          </a:blipFill>
          <a:ln>
            <a:noFill/>
          </a:ln>
        </p:spPr>
      </p:sp>
      <p:sp>
        <p:nvSpPr>
          <p:cNvPr descr="preencoded.png" id="494" name="Google Shape;494;p21"/>
          <p:cNvSpPr/>
          <p:nvPr/>
        </p:nvSpPr>
        <p:spPr>
          <a:xfrm>
            <a:off x="1654673" y="4700588"/>
            <a:ext cx="1085374" cy="1302353"/>
          </a:xfrm>
          <a:custGeom>
            <a:rect b="b" l="l" r="r" t="t"/>
            <a:pathLst>
              <a:path extrusionOk="0" h="1736471" w="1447165">
                <a:moveTo>
                  <a:pt x="0" y="0"/>
                </a:moveTo>
                <a:lnTo>
                  <a:pt x="1447165" y="0"/>
                </a:lnTo>
                <a:lnTo>
                  <a:pt x="1447165" y="1736471"/>
                </a:lnTo>
                <a:lnTo>
                  <a:pt x="0" y="173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85" l="0" r="0" t="-186"/>
            </a:stretch>
          </a:blipFill>
          <a:ln>
            <a:noFill/>
          </a:ln>
        </p:spPr>
      </p:sp>
      <p:sp>
        <p:nvSpPr>
          <p:cNvPr descr="preencoded.png" id="495" name="Google Shape;495;p21"/>
          <p:cNvSpPr/>
          <p:nvPr/>
        </p:nvSpPr>
        <p:spPr>
          <a:xfrm>
            <a:off x="1654673" y="6002979"/>
            <a:ext cx="1085374" cy="1302353"/>
          </a:xfrm>
          <a:custGeom>
            <a:rect b="b" l="l" r="r" t="t"/>
            <a:pathLst>
              <a:path extrusionOk="0" h="1736471" w="1447165">
                <a:moveTo>
                  <a:pt x="0" y="0"/>
                </a:moveTo>
                <a:lnTo>
                  <a:pt x="1447165" y="0"/>
                </a:lnTo>
                <a:lnTo>
                  <a:pt x="1447165" y="1736471"/>
                </a:lnTo>
                <a:lnTo>
                  <a:pt x="0" y="173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85" l="0" r="0" t="-186"/>
            </a:stretch>
          </a:blipFill>
          <a:ln>
            <a:noFill/>
          </a:ln>
        </p:spPr>
      </p:sp>
      <p:sp>
        <p:nvSpPr>
          <p:cNvPr descr="preencoded.png" id="496" name="Google Shape;496;p21"/>
          <p:cNvSpPr/>
          <p:nvPr/>
        </p:nvSpPr>
        <p:spPr>
          <a:xfrm>
            <a:off x="1654673" y="7305380"/>
            <a:ext cx="1085374" cy="1302353"/>
          </a:xfrm>
          <a:custGeom>
            <a:rect b="b" l="l" r="r" t="t"/>
            <a:pathLst>
              <a:path extrusionOk="0" h="1736471" w="1447165">
                <a:moveTo>
                  <a:pt x="0" y="0"/>
                </a:moveTo>
                <a:lnTo>
                  <a:pt x="1447165" y="0"/>
                </a:lnTo>
                <a:lnTo>
                  <a:pt x="1447165" y="1736471"/>
                </a:lnTo>
                <a:lnTo>
                  <a:pt x="0" y="173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85" l="0" r="0" t="-186"/>
            </a:stretch>
          </a:blipFill>
          <a:ln>
            <a:noFill/>
          </a:ln>
        </p:spPr>
      </p:sp>
      <p:sp>
        <p:nvSpPr>
          <p:cNvPr id="497" name="Google Shape;497;p21"/>
          <p:cNvSpPr txBox="1"/>
          <p:nvPr/>
        </p:nvSpPr>
        <p:spPr>
          <a:xfrm>
            <a:off x="1654673" y="1015756"/>
            <a:ext cx="5427021" cy="756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</a:pPr>
            <a:r>
              <a:rPr b="1" i="0" lang="en-US" sz="425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2906163" y="2236584"/>
            <a:ext cx="2713434" cy="3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6"/>
              <a:buFont typeface="Arial"/>
              <a:buNone/>
            </a:pPr>
            <a:r>
              <a:rPr b="1" i="0" lang="en-US" sz="21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2906163" y="2637234"/>
            <a:ext cx="7152237" cy="33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 the recommendation application for real-world use.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2906163" y="3538985"/>
            <a:ext cx="2713434" cy="3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6"/>
              <a:buFont typeface="Arial"/>
              <a:buNone/>
            </a:pPr>
            <a:r>
              <a:rPr b="1" i="0" lang="en-US" sz="21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Rejection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2906163" y="3939626"/>
            <a:ext cx="13727011" cy="33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unsupported-query detection and rejection before recommendation.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2906163" y="4841377"/>
            <a:ext cx="4931550" cy="3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6"/>
              <a:buFont typeface="Arial"/>
              <a:buNone/>
            </a:pPr>
            <a:r>
              <a:rPr b="1" i="0" lang="en-US" sz="21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 Data Collection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2906163" y="5242027"/>
            <a:ext cx="13727011" cy="33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data collection with controlled automated expansion.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 txBox="1"/>
          <p:nvPr/>
        </p:nvSpPr>
        <p:spPr>
          <a:xfrm>
            <a:off x="2906163" y="6143777"/>
            <a:ext cx="5220310" cy="3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6"/>
              <a:buFont typeface="Arial"/>
              <a:buNone/>
            </a:pPr>
            <a:r>
              <a:rPr b="1" i="0" lang="en-US" sz="21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&amp; Marketplace Linking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2906163" y="6544418"/>
            <a:ext cx="13727011" cy="33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 category coverage and support direct product linking and marketplace redirection.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2906163" y="7446169"/>
            <a:ext cx="2713434" cy="3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2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6"/>
              <a:buFont typeface="Arial"/>
              <a:buNone/>
            </a:pPr>
            <a:r>
              <a:rPr b="1" i="0" lang="en-US" sz="21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Richer Metadata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1"/>
          <p:cNvSpPr txBox="1"/>
          <p:nvPr/>
        </p:nvSpPr>
        <p:spPr>
          <a:xfrm>
            <a:off x="2906163" y="7846809"/>
            <a:ext cx="13727011" cy="33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richer product metadata such as availability, discount, delivery, and seller-related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1"/>
          <p:cNvSpPr/>
          <p:nvPr/>
        </p:nvSpPr>
        <p:spPr>
          <a:xfrm rot="-2291218">
            <a:off x="13093745" y="248402"/>
            <a:ext cx="2676343" cy="1871527"/>
          </a:xfrm>
          <a:custGeom>
            <a:rect b="b" l="l" r="r" t="t"/>
            <a:pathLst>
              <a:path extrusionOk="0" h="2729821" w="3412276">
                <a:moveTo>
                  <a:pt x="0" y="0"/>
                </a:moveTo>
                <a:lnTo>
                  <a:pt x="3412276" y="0"/>
                </a:lnTo>
                <a:lnTo>
                  <a:pt x="3412276" y="2729821"/>
                </a:lnTo>
                <a:lnTo>
                  <a:pt x="0" y="272982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1"/>
          <p:cNvSpPr/>
          <p:nvPr/>
        </p:nvSpPr>
        <p:spPr>
          <a:xfrm>
            <a:off x="15071633" y="1776092"/>
            <a:ext cx="1981200" cy="1722283"/>
          </a:xfrm>
          <a:custGeom>
            <a:rect b="b" l="l" r="r" t="t"/>
            <a:pathLst>
              <a:path extrusionOk="0" h="3731062" w="2872917">
                <a:moveTo>
                  <a:pt x="0" y="0"/>
                </a:moveTo>
                <a:lnTo>
                  <a:pt x="2872917" y="0"/>
                </a:lnTo>
                <a:lnTo>
                  <a:pt x="2872917" y="3731061"/>
                </a:lnTo>
                <a:lnTo>
                  <a:pt x="0" y="3731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9111" l="0" r="0" t="-9111"/>
            </a:stretch>
          </a:blipFill>
          <a:ln>
            <a:noFill/>
          </a:ln>
        </p:spPr>
      </p:sp>
      <p:sp>
        <p:nvSpPr>
          <p:cNvPr id="515" name="Google Shape;515;p22"/>
          <p:cNvSpPr/>
          <p:nvPr/>
        </p:nvSpPr>
        <p:spPr>
          <a:xfrm>
            <a:off x="987476" y="3977135"/>
            <a:ext cx="16312991" cy="3045524"/>
          </a:xfrm>
          <a:custGeom>
            <a:rect b="b" l="l" r="r" t="t"/>
            <a:pathLst>
              <a:path extrusionOk="0" h="4060698" w="21750655">
                <a:moveTo>
                  <a:pt x="0" y="139319"/>
                </a:moveTo>
                <a:cubicBezTo>
                  <a:pt x="0" y="62357"/>
                  <a:pt x="62357" y="0"/>
                  <a:pt x="139319" y="0"/>
                </a:cubicBezTo>
                <a:lnTo>
                  <a:pt x="21611337" y="0"/>
                </a:lnTo>
                <a:cubicBezTo>
                  <a:pt x="21688299" y="0"/>
                  <a:pt x="21750655" y="62357"/>
                  <a:pt x="21750655" y="139319"/>
                </a:cubicBezTo>
                <a:lnTo>
                  <a:pt x="21750655" y="3921379"/>
                </a:lnTo>
                <a:cubicBezTo>
                  <a:pt x="21750655" y="3998341"/>
                  <a:pt x="21688299" y="4060698"/>
                  <a:pt x="21611337" y="4060698"/>
                </a:cubicBezTo>
                <a:lnTo>
                  <a:pt x="139319" y="4060698"/>
                </a:lnTo>
                <a:cubicBezTo>
                  <a:pt x="62357" y="4060825"/>
                  <a:pt x="0" y="3998468"/>
                  <a:pt x="0" y="3921506"/>
                </a:cubicBez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54370" l="0" r="0" t="-54368"/>
            </a:stretch>
          </a:blipFill>
          <a:ln cap="sq" cmpd="sng" w="9525">
            <a:solidFill>
              <a:srgbClr val="C7C7D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992238" y="3981898"/>
            <a:ext cx="5447109" cy="3036094"/>
          </a:xfrm>
          <a:custGeom>
            <a:rect b="b" l="l" r="r" t="t"/>
            <a:pathLst>
              <a:path extrusionOk="0" h="3036094" w="5447109">
                <a:moveTo>
                  <a:pt x="0" y="0"/>
                </a:moveTo>
                <a:lnTo>
                  <a:pt x="5447110" y="0"/>
                </a:lnTo>
                <a:lnTo>
                  <a:pt x="5447110" y="3036093"/>
                </a:lnTo>
                <a:lnTo>
                  <a:pt x="0" y="303609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22"/>
          <p:cNvSpPr/>
          <p:nvPr/>
        </p:nvSpPr>
        <p:spPr>
          <a:xfrm>
            <a:off x="6420298" y="3981898"/>
            <a:ext cx="5447252" cy="3036094"/>
          </a:xfrm>
          <a:custGeom>
            <a:rect b="b" l="l" r="r" t="t"/>
            <a:pathLst>
              <a:path extrusionOk="0" h="4048125" w="7263003">
                <a:moveTo>
                  <a:pt x="0" y="0"/>
                </a:moveTo>
                <a:lnTo>
                  <a:pt x="7263003" y="0"/>
                </a:lnTo>
                <a:lnTo>
                  <a:pt x="7263003" y="4048125"/>
                </a:lnTo>
                <a:lnTo>
                  <a:pt x="0" y="4048125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0" l="-21510" r="-21510" t="0"/>
            </a:stretch>
          </a:blipFill>
          <a:ln cap="sq" cmpd="sng" w="19050">
            <a:solidFill>
              <a:srgbClr val="ED7D31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518" name="Google Shape;518;p22"/>
          <p:cNvSpPr/>
          <p:nvPr/>
        </p:nvSpPr>
        <p:spPr>
          <a:xfrm>
            <a:off x="6429823" y="3991423"/>
            <a:ext cx="28575" cy="3017044"/>
          </a:xfrm>
          <a:custGeom>
            <a:rect b="b" l="l" r="r" t="t"/>
            <a:pathLst>
              <a:path extrusionOk="0" h="4022725" w="38100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cubicBezTo>
                  <a:pt x="29591" y="0"/>
                  <a:pt x="38100" y="8509"/>
                  <a:pt x="38100" y="19050"/>
                </a:cubicBezTo>
                <a:lnTo>
                  <a:pt x="38100" y="4003675"/>
                </a:lnTo>
                <a:cubicBezTo>
                  <a:pt x="38100" y="4014216"/>
                  <a:pt x="29591" y="4022725"/>
                  <a:pt x="19050" y="4022725"/>
                </a:cubicBezTo>
                <a:cubicBezTo>
                  <a:pt x="8509" y="4022725"/>
                  <a:pt x="0" y="4014216"/>
                  <a:pt x="0" y="4003675"/>
                </a:cubicBezTo>
                <a:close/>
              </a:path>
            </a:pathLst>
          </a:cu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11848509" y="3981898"/>
            <a:ext cx="5447252" cy="3035999"/>
          </a:xfrm>
          <a:custGeom>
            <a:rect b="b" l="l" r="r" t="t"/>
            <a:pathLst>
              <a:path extrusionOk="0" h="4047998" w="7263003">
                <a:moveTo>
                  <a:pt x="0" y="0"/>
                </a:moveTo>
                <a:lnTo>
                  <a:pt x="7146798" y="0"/>
                </a:lnTo>
                <a:cubicBezTo>
                  <a:pt x="7210933" y="0"/>
                  <a:pt x="7263003" y="52197"/>
                  <a:pt x="7263003" y="116459"/>
                </a:cubicBezTo>
                <a:lnTo>
                  <a:pt x="7263003" y="3931539"/>
                </a:lnTo>
                <a:cubicBezTo>
                  <a:pt x="7263003" y="3995928"/>
                  <a:pt x="7210933" y="4047998"/>
                  <a:pt x="7146798" y="4047998"/>
                </a:cubicBezTo>
                <a:lnTo>
                  <a:pt x="0" y="4047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3" l="-21510" r="-21510" t="0"/>
            </a:stretch>
          </a:blipFill>
          <a:ln cap="sq" cmpd="sng" w="19050">
            <a:solidFill>
              <a:srgbClr val="ED7D3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11858034" y="3991423"/>
            <a:ext cx="28575" cy="3017044"/>
          </a:xfrm>
          <a:custGeom>
            <a:rect b="b" l="l" r="r" t="t"/>
            <a:pathLst>
              <a:path extrusionOk="0" h="4022725" w="38100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cubicBezTo>
                  <a:pt x="29591" y="0"/>
                  <a:pt x="38100" y="8509"/>
                  <a:pt x="38100" y="19050"/>
                </a:cubicBezTo>
                <a:lnTo>
                  <a:pt x="38100" y="4003675"/>
                </a:lnTo>
                <a:cubicBezTo>
                  <a:pt x="38100" y="4014216"/>
                  <a:pt x="29591" y="4022725"/>
                  <a:pt x="19050" y="4022725"/>
                </a:cubicBezTo>
                <a:cubicBezTo>
                  <a:pt x="8509" y="4022725"/>
                  <a:pt x="0" y="4014216"/>
                  <a:pt x="0" y="4003675"/>
                </a:cubicBezTo>
                <a:close/>
              </a:path>
            </a:pathLst>
          </a:cu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2"/>
          <p:cNvSpPr txBox="1"/>
          <p:nvPr/>
        </p:nvSpPr>
        <p:spPr>
          <a:xfrm>
            <a:off x="1249709" y="2403424"/>
            <a:ext cx="3971649" cy="73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1249709" y="4239368"/>
            <a:ext cx="4932159" cy="36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Novel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2"/>
          <p:cNvSpPr txBox="1"/>
          <p:nvPr/>
        </p:nvSpPr>
        <p:spPr>
          <a:xfrm>
            <a:off x="1249709" y="4766367"/>
            <a:ext cx="4932159" cy="168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6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7"/>
              <a:buFont typeface="Arial"/>
              <a:buNone/>
            </a:pPr>
            <a:r>
              <a:rPr b="1" i="0" lang="en-US" sz="175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context-aware, multilingual aspect-based product recommendation framework specifically designed for the Bangla-English-Banglish e-commerce environment — addressing a gap no prior system has filled.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"/>
          <p:cNvSpPr txBox="1"/>
          <p:nvPr/>
        </p:nvSpPr>
        <p:spPr>
          <a:xfrm>
            <a:off x="6677768" y="4239368"/>
            <a:ext cx="5409152" cy="36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 Retrieval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6677768" y="4699692"/>
            <a:ext cx="4932312" cy="1890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Combining dense semantic retrieval, sparse lexical matching, and neural reranking achieved NDCG_suit@10 of 0.9751 and a 91.24% Suitable@1 rate — state-of-the-art results for this domain.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12105980" y="4239368"/>
            <a:ext cx="4932312" cy="36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Actionable E-Commerce 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12105980" y="4709217"/>
            <a:ext cx="4932312" cy="176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7"/>
              <a:buFont typeface="Arial"/>
              <a:buNone/>
            </a:pPr>
            <a:r>
              <a:rPr b="1" i="0" lang="en-US" sz="175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RecomPro successfully bridges opinion mining and product search, providing transparent </a:t>
            </a:r>
            <a:r>
              <a:rPr b="1" i="1" lang="en-US" sz="175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"Loved for"</a:t>
            </a:r>
            <a:r>
              <a:rPr b="1" i="0" lang="en-US" sz="175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1" lang="en-US" sz="175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"Watch out for"</a:t>
            </a:r>
            <a:r>
              <a:rPr b="1" i="0" lang="en-US" sz="175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review summaries that support informed, confident purchasing decisions.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 rot="-3685262">
            <a:off x="13450115" y="895899"/>
            <a:ext cx="1693533" cy="2029215"/>
          </a:xfrm>
          <a:custGeom>
            <a:rect b="b" l="l" r="r" t="t"/>
            <a:pathLst>
              <a:path extrusionOk="0" h="2992249" w="3183244">
                <a:moveTo>
                  <a:pt x="0" y="0"/>
                </a:moveTo>
                <a:lnTo>
                  <a:pt x="3183243" y="0"/>
                </a:lnTo>
                <a:lnTo>
                  <a:pt x="3183243" y="2992249"/>
                </a:lnTo>
                <a:lnTo>
                  <a:pt x="0" y="299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15697200" y="116459"/>
            <a:ext cx="2297738" cy="1979041"/>
          </a:xfrm>
          <a:custGeom>
            <a:rect b="b" l="l" r="r" t="t"/>
            <a:pathLst>
              <a:path extrusionOk="0" h="2310102" w="3059738">
                <a:moveTo>
                  <a:pt x="0" y="0"/>
                </a:moveTo>
                <a:lnTo>
                  <a:pt x="3059738" y="0"/>
                </a:lnTo>
                <a:lnTo>
                  <a:pt x="3059738" y="2310103"/>
                </a:lnTo>
                <a:lnTo>
                  <a:pt x="0" y="23101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99d9698cb_0_772"/>
          <p:cNvSpPr/>
          <p:nvPr/>
        </p:nvSpPr>
        <p:spPr>
          <a:xfrm>
            <a:off x="0" y="-25277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CFBF8"/>
          </a:solidFill>
          <a:ln>
            <a:noFill/>
          </a:ln>
        </p:spPr>
      </p:sp>
      <p:pic>
        <p:nvPicPr>
          <p:cNvPr id="536" name="Google Shape;536;g3f99d9698cb_0_772" title="website_Video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6577" y="6153801"/>
            <a:ext cx="7968600" cy="381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f99d9698cb_0_7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975" y="1295555"/>
            <a:ext cx="4085025" cy="11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g3f99d9698cb_0_7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2250" y="7695579"/>
            <a:ext cx="2145050" cy="187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99d9698cb_0_772"/>
          <p:cNvSpPr txBox="1"/>
          <p:nvPr/>
        </p:nvSpPr>
        <p:spPr>
          <a:xfrm>
            <a:off x="954975" y="6206221"/>
            <a:ext cx="36396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Web Page Video</a:t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g3f99d9698cb_0_7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64275" y="276346"/>
            <a:ext cx="9232348" cy="519319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f99d9698cb_0_772"/>
          <p:cNvSpPr txBox="1"/>
          <p:nvPr/>
        </p:nvSpPr>
        <p:spPr>
          <a:xfrm>
            <a:off x="1295925" y="4002673"/>
            <a:ext cx="32760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hlink"/>
                </a:solidFill>
                <a:hlinkClick r:id="rId8"/>
              </a:rPr>
              <a:t>Notebook</a:t>
            </a:r>
            <a:endParaRPr b="1" sz="3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hlink"/>
                </a:solidFill>
                <a:hlinkClick r:id="rId9"/>
              </a:rPr>
              <a:t>Github</a:t>
            </a:r>
            <a:endParaRPr b="1" sz="3600">
              <a:solidFill>
                <a:schemeClr val="dk2"/>
              </a:solidFill>
            </a:endParaRPr>
          </a:p>
        </p:txBody>
      </p:sp>
      <p:pic>
        <p:nvPicPr>
          <p:cNvPr id="542" name="Google Shape;542;g3f99d9698cb_0_77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33801" y="2649100"/>
            <a:ext cx="1400252" cy="11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99d6a077a_0_11"/>
          <p:cNvSpPr/>
          <p:nvPr/>
        </p:nvSpPr>
        <p:spPr>
          <a:xfrm>
            <a:off x="973188" y="4128935"/>
            <a:ext cx="5283613" cy="4005358"/>
          </a:xfrm>
          <a:custGeom>
            <a:rect b="b" l="l" r="r" t="t"/>
            <a:pathLst>
              <a:path extrusionOk="0" h="4005358" w="5283613">
                <a:moveTo>
                  <a:pt x="0" y="0"/>
                </a:moveTo>
                <a:lnTo>
                  <a:pt x="5283613" y="0"/>
                </a:lnTo>
                <a:lnTo>
                  <a:pt x="5283613" y="4005358"/>
                </a:lnTo>
                <a:lnTo>
                  <a:pt x="0" y="40053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g3f99d6a077a_0_11"/>
          <p:cNvSpPr/>
          <p:nvPr/>
        </p:nvSpPr>
        <p:spPr>
          <a:xfrm>
            <a:off x="6502156" y="4128935"/>
            <a:ext cx="5283613" cy="4005358"/>
          </a:xfrm>
          <a:custGeom>
            <a:rect b="b" l="l" r="r" t="t"/>
            <a:pathLst>
              <a:path extrusionOk="0" h="4005358" w="5283613">
                <a:moveTo>
                  <a:pt x="0" y="0"/>
                </a:moveTo>
                <a:lnTo>
                  <a:pt x="5283612" y="0"/>
                </a:lnTo>
                <a:lnTo>
                  <a:pt x="5283612" y="4005358"/>
                </a:lnTo>
                <a:lnTo>
                  <a:pt x="0" y="40053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g3f99d6a077a_0_11"/>
          <p:cNvSpPr/>
          <p:nvPr/>
        </p:nvSpPr>
        <p:spPr>
          <a:xfrm>
            <a:off x="12031113" y="4128935"/>
            <a:ext cx="5283613" cy="4005358"/>
          </a:xfrm>
          <a:custGeom>
            <a:rect b="b" l="l" r="r" t="t"/>
            <a:pathLst>
              <a:path extrusionOk="0" h="4005358" w="5283613">
                <a:moveTo>
                  <a:pt x="0" y="0"/>
                </a:moveTo>
                <a:lnTo>
                  <a:pt x="5283613" y="0"/>
                </a:lnTo>
                <a:lnTo>
                  <a:pt x="5283613" y="4005358"/>
                </a:lnTo>
                <a:lnTo>
                  <a:pt x="0" y="40053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g3f99d6a077a_0_11"/>
          <p:cNvSpPr txBox="1"/>
          <p:nvPr/>
        </p:nvSpPr>
        <p:spPr>
          <a:xfrm>
            <a:off x="865863" y="583287"/>
            <a:ext cx="70881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62"/>
              <a:buFont typeface="Arial"/>
              <a:buNone/>
            </a:pPr>
            <a:r>
              <a:rPr b="1" i="0" lang="en-US" sz="5562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99d6a077a_0_11"/>
          <p:cNvSpPr/>
          <p:nvPr/>
        </p:nvSpPr>
        <p:spPr>
          <a:xfrm>
            <a:off x="12833599" y="222393"/>
            <a:ext cx="2006666" cy="2307926"/>
          </a:xfrm>
          <a:custGeom>
            <a:rect b="b" l="l" r="r" t="t"/>
            <a:pathLst>
              <a:path extrusionOk="0" h="2731273" w="2540084">
                <a:moveTo>
                  <a:pt x="0" y="0"/>
                </a:moveTo>
                <a:lnTo>
                  <a:pt x="2540084" y="0"/>
                </a:lnTo>
                <a:lnTo>
                  <a:pt x="2540084" y="2731273"/>
                </a:lnTo>
                <a:lnTo>
                  <a:pt x="0" y="273127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g3f99d6a077a_0_11"/>
          <p:cNvSpPr/>
          <p:nvPr/>
        </p:nvSpPr>
        <p:spPr>
          <a:xfrm>
            <a:off x="14842672" y="1165529"/>
            <a:ext cx="2134167" cy="1836531"/>
          </a:xfrm>
          <a:custGeom>
            <a:rect b="b" l="l" r="r" t="t"/>
            <a:pathLst>
              <a:path extrusionOk="0" h="2310102" w="3059738">
                <a:moveTo>
                  <a:pt x="0" y="0"/>
                </a:moveTo>
                <a:lnTo>
                  <a:pt x="3059738" y="0"/>
                </a:lnTo>
                <a:lnTo>
                  <a:pt x="3059738" y="2310103"/>
                </a:lnTo>
                <a:lnTo>
                  <a:pt x="0" y="23101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g3f99d6a077a_0_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4000"/>
            </a:blip>
            <a:stretch>
              <a:fillRect b="-3230" l="-3860" r="-770" t="0"/>
            </a:stretch>
          </a:blipFill>
          <a:ln>
            <a:noFill/>
          </a:ln>
        </p:spPr>
      </p:sp>
      <p:sp>
        <p:nvSpPr>
          <p:cNvPr id="555" name="Google Shape;555;g3f99d6a077a_0_11"/>
          <p:cNvSpPr txBox="1"/>
          <p:nvPr/>
        </p:nvSpPr>
        <p:spPr>
          <a:xfrm>
            <a:off x="1194825" y="1757775"/>
            <a:ext cx="15919800" cy="7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R. Z. Z. C. L. L. L. Xinyu Li, "Personalized Language Modeling from Personalized Human Feedback," arXiv, vol. 3, p. 21, 2024. 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https://arxiv.org/abs/2402.05133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 R. K. Pavan Gunda, "Hybrid GPT and Neural Models for Personalized E-Commerce: A Novel Framework for Adaptive and Transparent Product Recommendations," ITEGAM-JETIA, vol. 12, p.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https://itegam-jetia.org/journal/index.php/jetia/en/article/view/2874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S. N. O. rkadeep Acharya, "LLM Based Generation of Item-Description for Recommendation System," pp.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https://dl.acm.org/doi/abs/10.1145/3604915.3610647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 L. Z. F. J. X. +. 4. I. &amp;. C. Chenhao Fang, "LLM-Ensemble: Optimal Large Language Model Ensemble Method for," in SIGIR 2024: The 47th International ACM SIGIR Conference on Research and Development in Information Retrieval, Washington DC USA , 2024.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https://dl.acm.org/doi/abs/10.1145/3626772.3661357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99d6a077a_0_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9110" l="0" r="0" t="-9110"/>
            </a:stretch>
          </a:blipFill>
          <a:ln>
            <a:noFill/>
          </a:ln>
        </p:spPr>
      </p:sp>
      <p:pic>
        <p:nvPicPr>
          <p:cNvPr id="562" name="Google Shape;562;g3f99d6a077a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275" y="-24524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Fardeen Haque</dc:creator>
</cp:coreProperties>
</file>